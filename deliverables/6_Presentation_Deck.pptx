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Eshita. This is the AtliQ Sales and CRM Assistant — an AI sales memory for AtliQ's founder-led sales team. In the next few minutes: the problem we found in AtliQ's own data, why AI is the right tool, the live prototype, how we measure success, and how it stays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from AtliQ's own data. The leads are there — 40 in the CRM and more in inboxes — but about 410 thousand dollars of pipeline was waiting on an action from AtliQ, not the client. Not one of the 40 CRM records had a next follow-up date. FinEdge, the biggest deal at 95k, sat for three weeks after the client said 'compliance cleared, let's talk commercials'. And the team already tried the obvious fix twice. That's the signal that this is a structural problem, not a discipline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persona is the founder-seller — a composite of the two founders and the CEO. They close most deals, but they sell from their phones, between meetings. The empathy map came straight from the meeting notes: they worry about losing deals, they feel guilty when warm clients chase them, and they push CRM updates to later — which never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 Whys took us below the surface complaint 'the CRM is stale'. The CRM depends on people re-typing conversations, founders sell on their phones, and the same-day rule failed twice because typing pays nothing back to the person doing it. So the root cause is structural: the real signals live in unstructured conversations and nothing turns them into owned actions. That's what makes this an AI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read every email and meeting note, the leaks weren't random — they fell into five patterns. Promises we made and forgot. Questions clients asked that nobody answered, including FinEdge. Deadlines buried in long emails. Lost deals where the client said 'come back in Q3' and nobody did. And leads that never made it into the CRM, or got entered twice. Every one of these is a signal hidden in text. That's the opportunity for AI — and these exact cases became our evaluation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Miro board we mapped AtliQ's sales process in ten steps, from a new opportunity to revenue won and the relationship grown. Five steps hurt the most: logging leads, meetings, follow-ups, closing or losing, and growing accounts. For each we picked the AI capability that fits: organising and connecting at lead capture, finding and writing at meetings, planning and recommending at follow-up. Just as important are the cards we rejected — nothing autonomous. AI never sends an email or changes a deal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opportunity we chose is this job to be done: between meetings, tell me what I owe each client today and keep the CRM true without me typing — so no warm deal goes cold. AI is the right tool because the signals are written in plain language, and because discipline has already failed twice. Equally important is the boundary. AI reads, finds, ranks and drafts. It never sends, never changes a deal by itself, never merges records, and never invents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solution in one picture. Emails, meeting notes and recordings come in. A language model reads them and pulls out every ask, promise and deadline, each with the exact quote it came from. Then code takes over: it checks the quote really exists, works out the due date, ranks what matters today and flags duplicates. And the founder decides — one tap to mark something done, move a stage or approve a draft. AI reads and writes, code does the maths, humans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prototype. A founder opens the app between meetings. Home shows four numbers — open pipeline, overdue, due this week and new leads — and the top five things to do, ranked. FinEdge is right at the top, which is exactly where it should have been in July. The follow-ups page lists every open promise and client ask, by time or by lead, and each one shows the exact quote it came from — so you can trust it in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open a deal — ShopSwift, 55 thousand dollars. At the top: who they are and what they want. Then the status panel with the stage track. The AI found the ask buried in an email — send the SOW by the 15th of July. I can draft the reply; anything the AI doesn't know, like a price, shows as TBD rather than being made up. When I mark it done and type 'SOW sent', the action and date are logged and the stage moves from Qualified to Proposal Sent. That's the loop closing — the CRM stays true without anyone typing it up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flow removes the typing. After a call, the founder records or dictates a quick debrief — even on just a phone. Whisper transcribes it and the AI writes the minutes, finds the deal value and creates the follow-ups with real dates. In the GreenGrid demo that's 22 thousand dollars and two follow-ups, in seconds. New leads work the same way: paste an email or a card, and the AI fills in the fields and checks for duplicates. If there is a duplicate, like Meridian, a person merges it side by side — the AI only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 works? Our North Star is the share of follow-ups done on time — because every leak we found was a follow-up that didn't happen. Today that's roughly 20 percent. We aim for 60 in beta, 80 at launch and 90 at steady state. Business metrics sit under it: replying to client asks within two business days, pipeline review prep from two hours to under ten minutes, and no clients chasing us. Trust metrics tell us if people actually use it. And the guardrail metrics must always hold: zero actions without approval and zero invented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build it — we tested it against the answer key hidden in the dataset's editorial notes. All 12 checks pass: every known ask and promise found, all 124 quotes verified word for word against the source, all five missing leads found, and every buried deadline dated correctly. FinEdge ranks number one. The evals earned their keep: they caught a draft that invented details, a ranking bug that put ShopSwift at 87, and a false alarm on GlobalMart. Each was fixed and re-tested.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assistant that tells founders what to say to clients has to be trustworthy. We listed nine ways it could fail and built a guardrail for each. Grounding: nothing appears without a verbatim quote, drafts use TBD instead of guessing, and dates are calculated by code. Human control: the AI never sends, never moves a deal and never merges — a person does. And privacy: client email text is treated as data, never as instructions, the API key stays on the server, and meetings are only recorded with consent. The interface follows Microsoft's HAX guidelines, including a page that explains how the AI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cost? At AtliQ's real volume, about two dollars and thirty cents a month on Groq — the small model for extraction, the larger one for summaries and drafts, and Whisper for meetings. Hosting is free. Compare that with nearly 394 dollars a month of founder time spent tracking follow-ups by hand: a saving of about 391 dollars, 99 percent. Even on Claude it would be under 28 dollars. And the real value is protecting a pipeline worth 410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not a chatbot bolted onto a CRM. It's a sales memory that closes the loop. Every suggestion shows its proof. Acting on it updates the CRM. It works from a phone. It catches what CRMs miss — lost deals that come back, threads that went quiet, leads that never got entered. It's tested against a real answer key, and people stay in control. Next we'd connect live email, write back to the CRM and add a meeting bot. The prototype is live at the link on screen.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A33"/>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1A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1A33"/>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1"/>
            <a:ext cx="10566400" cy="4165599"/>
          </a:xfrm>
          <a:prstGeom prst="rect">
            <a:avLst/>
          </a:prstGeom>
          <a:noFill/>
          <a:ln/>
        </p:spPr>
        <p:txBody>
          <a:bodyPr wrap="square" lIns="0" tIns="0" rIns="0" bIns="0" rtlCol="0" anchor="t"/>
          <a:lstStyle>
            <a:lvl1pPr algn="l" indent="0" marL="0">
              <a:lnSpc>
                <a:spcPct val="140000"/>
              </a:lnSpc>
              <a:buNone/>
              <a:defRPr lang="en-US" sz="1600" dirty="0">
                <a:solidFill>
                  <a:srgbClr val="141A33"/>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33"/>
        </a:solidFill>
      </p:bgPr>
    </p:bg>
    <p:spTree>
      <p:nvGrpSpPr>
        <p:cNvPr id="1" name=""/>
        <p:cNvGrpSpPr/>
        <p:nvPr/>
      </p:nvGrpSpPr>
      <p:grpSpPr>
        <a:xfrm>
          <a:off x="0" y="0"/>
          <a:ext cx="0" cy="0"/>
          <a:chOff x="0" y="0"/>
          <a:chExt cx="0" cy="0"/>
        </a:xfrm>
      </p:grpSpPr>
      <p:sp>
        <p:nvSpPr>
          <p:cNvPr id="2" name="Shape 0"/>
          <p:cNvSpPr/>
          <p:nvPr/>
        </p:nvSpPr>
        <p:spPr>
          <a:xfrm>
            <a:off x="8382000" y="0"/>
            <a:ext cx="3810000" cy="6858000"/>
          </a:xfrm>
          <a:prstGeom prst="rect">
            <a:avLst/>
          </a:prstGeom>
          <a:gradFill rotWithShape="1">
            <a:gsLst>
              <a:gs pos="0">
                <a:srgbClr val="4F46E5"/>
              </a:gs>
              <a:gs pos="100000">
                <a:srgbClr val="141A33"/>
              </a:gs>
            </a:gsLst>
            <a:lin ang="4200000" scaled="0"/>
          </a:gra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A5B4FC"/>
                </a:solidFill>
                <a:latin typeface="DM Sans" pitchFamily="34" charset="0"/>
                <a:ea typeface="DM Sans" pitchFamily="34" charset="-122"/>
                <a:cs typeface="DM Sans" pitchFamily="34" charset="-120"/>
              </a:rPr>
              <a:t>AI PM CAPSTONE · ATLIQ TECHNOLOGIES</a:t>
            </a:r>
            <a:endParaRPr lang="en-US" sz="1400" dirty="0"/>
          </a:p>
        </p:txBody>
      </p:sp>
      <p:sp>
        <p:nvSpPr>
          <p:cNvPr id="4" name="Text 2"/>
          <p:cNvSpPr/>
          <p:nvPr>
            <p:ph type="title"/>
          </p:nvPr>
        </p:nvSpPr>
        <p:spPr>
          <a:xfrm>
            <a:off x="812800" y="1885950"/>
            <a:ext cx="7521575"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7FB"/>
                </a:solidFill>
                <a:latin typeface="DM Sans" pitchFamily="34" charset="0"/>
                <a:ea typeface="DM Sans" pitchFamily="34" charset="-122"/>
                <a:cs typeface="DM Sans" pitchFamily="34" charset="-120"/>
              </a:rPr>
              <a:t>AtliQ Sales &amp; CRM Assistant</a:t>
            </a:r>
            <a:endParaRPr lang="en-US" sz="5600" dirty="0"/>
          </a:p>
        </p:txBody>
      </p:sp>
      <p:sp>
        <p:nvSpPr>
          <p:cNvPr id="5" name="Text 3"/>
          <p:cNvSpPr/>
          <p:nvPr/>
        </p:nvSpPr>
        <p:spPr>
          <a:xfrm>
            <a:off x="812800" y="3582670"/>
            <a:ext cx="7521575" cy="111506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7CCE6"/>
                </a:solidFill>
                <a:latin typeface="DM Sans" pitchFamily="34" charset="0"/>
                <a:ea typeface="DM Sans" pitchFamily="34" charset="-122"/>
                <a:cs typeface="DM Sans" pitchFamily="34" charset="-120"/>
              </a:rPr>
              <a:t>A sales memory that closes the loop — it catches every promise and client ask, tells founders what to do today, and updates the CRM when they act.</a:t>
            </a:r>
            <a:endParaRPr lang="en-US" sz="2200" dirty="0"/>
          </a:p>
        </p:txBody>
      </p:sp>
      <p:sp>
        <p:nvSpPr>
          <p:cNvPr id="6" name="Text 4"/>
          <p:cNvSpPr/>
          <p:nvPr/>
        </p:nvSpPr>
        <p:spPr>
          <a:xfrm>
            <a:off x="812800" y="5496560"/>
            <a:ext cx="14169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B4FC"/>
                </a:solidFill>
                <a:latin typeface="DM Sans" pitchFamily="34" charset="0"/>
                <a:ea typeface="DM Sans" pitchFamily="34" charset="-122"/>
                <a:cs typeface="DM Sans" pitchFamily="34" charset="-120"/>
              </a:rPr>
              <a:t>Presented by</a:t>
            </a:r>
            <a:endParaRPr lang="en-US" sz="1200" dirty="0"/>
          </a:p>
        </p:txBody>
      </p:sp>
      <p:sp>
        <p:nvSpPr>
          <p:cNvPr id="7" name="Text 5"/>
          <p:cNvSpPr/>
          <p:nvPr/>
        </p:nvSpPr>
        <p:spPr>
          <a:xfrm>
            <a:off x="812800" y="5760720"/>
            <a:ext cx="16393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7FB"/>
                </a:solidFill>
                <a:latin typeface="DM Sans" pitchFamily="34" charset="0"/>
                <a:ea typeface="DM Sans" pitchFamily="34" charset="-122"/>
                <a:cs typeface="DM Sans" pitchFamily="34" charset="-120"/>
              </a:rPr>
              <a:t>Eshita Rastogi</a:t>
            </a:r>
            <a:endParaRPr lang="en-US" sz="1600" dirty="0"/>
          </a:p>
        </p:txBody>
      </p:sp>
      <p:sp>
        <p:nvSpPr>
          <p:cNvPr id="8" name="Text 6"/>
          <p:cNvSpPr/>
          <p:nvPr/>
        </p:nvSpPr>
        <p:spPr>
          <a:xfrm>
            <a:off x="2585323" y="5496560"/>
            <a:ext cx="5296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B4FC"/>
                </a:solidFill>
                <a:latin typeface="DM Sans" pitchFamily="34" charset="0"/>
                <a:ea typeface="DM Sans" pitchFamily="34" charset="-122"/>
                <a:cs typeface="DM Sans" pitchFamily="34" charset="-120"/>
              </a:rPr>
              <a:t>Live prototype</a:t>
            </a:r>
            <a:endParaRPr lang="en-US" sz="1200" dirty="0"/>
          </a:p>
        </p:txBody>
      </p:sp>
      <p:sp>
        <p:nvSpPr>
          <p:cNvPr id="9" name="Text 7"/>
          <p:cNvSpPr/>
          <p:nvPr/>
        </p:nvSpPr>
        <p:spPr>
          <a:xfrm>
            <a:off x="2585323" y="5760720"/>
            <a:ext cx="579667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7FB"/>
                </a:solidFill>
                <a:latin typeface="DM Sans" pitchFamily="34" charset="0"/>
                <a:ea typeface="DM Sans" pitchFamily="34" charset="-122"/>
                <a:cs typeface="DM Sans" pitchFamily="34" charset="-120"/>
              </a:rPr>
              <a:t>atliq-sales-crm-assistant-eshita-rastogi.vercel.app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02 · Source: capstone dataset (CRM export, 34 emails, 16 meeting notes)</a:t>
            </a:r>
            <a:endParaRPr lang="en-US" sz="12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THE PROBLEM</a:t>
            </a:r>
            <a:endParaRPr lang="en-US" sz="1200" dirty="0"/>
          </a:p>
        </p:txBody>
      </p:sp>
      <p:sp>
        <p:nvSpPr>
          <p:cNvPr id="4" name="Text 2"/>
          <p:cNvSpPr/>
          <p:nvPr>
            <p:ph type="title"/>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AtliQ doesn't lack leads. It lacks memory.</a:t>
            </a:r>
            <a:endParaRPr lang="en-US" sz="3200" dirty="0"/>
          </a:p>
        </p:txBody>
      </p:sp>
      <p:sp>
        <p:nvSpPr>
          <p:cNvPr id="5" name="Text 3"/>
          <p:cNvSpPr/>
          <p:nvPr/>
        </p:nvSpPr>
        <p:spPr>
          <a:xfrm>
            <a:off x="812800" y="2357120"/>
            <a:ext cx="4185920" cy="1295400"/>
          </a:xfrm>
          <a:prstGeom prst="rect">
            <a:avLst/>
          </a:prstGeom>
          <a:noFill/>
          <a:ln/>
        </p:spPr>
        <p:txBody>
          <a:bodyPr wrap="square" lIns="0" tIns="0" rIns="0" bIns="0" rtlCol="0" anchor="t">
            <a:normAutofit/>
          </a:bodyPr>
          <a:lstStyle/>
          <a:p>
            <a:pPr algn="l" indent="0" marL="0">
              <a:lnSpc>
                <a:spcPts val="10000"/>
              </a:lnSpc>
              <a:buNone/>
            </a:pPr>
            <a:r>
              <a:rPr lang="en-US" sz="10000" b="1" dirty="0">
                <a:solidFill>
                  <a:srgbClr val="4F46E5"/>
                </a:solidFill>
                <a:latin typeface="DM Sans" pitchFamily="34" charset="0"/>
                <a:ea typeface="DM Sans" pitchFamily="34" charset="-122"/>
                <a:cs typeface="DM Sans" pitchFamily="34" charset="-120"/>
              </a:rPr>
              <a:t>$410k</a:t>
            </a:r>
            <a:endParaRPr lang="en-US" sz="10000" dirty="0"/>
          </a:p>
        </p:txBody>
      </p:sp>
      <p:sp>
        <p:nvSpPr>
          <p:cNvPr id="6" name="Text 4"/>
          <p:cNvSpPr/>
          <p:nvPr/>
        </p:nvSpPr>
        <p:spPr>
          <a:xfrm>
            <a:off x="812800" y="3728720"/>
            <a:ext cx="4185920" cy="91694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41A33"/>
                </a:solidFill>
                <a:latin typeface="DM Sans" pitchFamily="34" charset="0"/>
                <a:ea typeface="DM Sans" pitchFamily="34" charset="-122"/>
                <a:cs typeface="DM Sans" pitchFamily="34" charset="-120"/>
              </a:rPr>
              <a:t>of known pipeline was </a:t>
            </a:r>
            <a:r>
              <a:rPr lang="en-US" sz="1800" b="1" dirty="0">
                <a:solidFill>
                  <a:srgbClr val="141A33"/>
                </a:solidFill>
                <a:latin typeface="DM Sans" pitchFamily="34" charset="0"/>
                <a:ea typeface="DM Sans" pitchFamily="34" charset="-122"/>
                <a:cs typeface="DM Sans" pitchFamily="34" charset="-120"/>
              </a:rPr>
              <a:t>waiting on AtliQ</a:t>
            </a:r>
            <a:r>
              <a:rPr lang="en-US" sz="1800" dirty="0">
                <a:solidFill>
                  <a:srgbClr val="141A33"/>
                </a:solidFill>
                <a:latin typeface="DM Sans" pitchFamily="34" charset="0"/>
                <a:ea typeface="DM Sans" pitchFamily="34" charset="-122"/>
                <a:cs typeface="DM Sans" pitchFamily="34" charset="-120"/>
              </a:rPr>
              <a:t>, not on the client, in the July 2026 snapshot.</a:t>
            </a:r>
            <a:endParaRPr lang="en-US" sz="1800" dirty="0"/>
          </a:p>
        </p:txBody>
      </p:sp>
      <p:sp>
        <p:nvSpPr>
          <p:cNvPr id="7" name="Text 5"/>
          <p:cNvSpPr/>
          <p:nvPr/>
        </p:nvSpPr>
        <p:spPr>
          <a:xfrm>
            <a:off x="812800" y="4721860"/>
            <a:ext cx="418592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B7280"/>
                </a:solidFill>
                <a:latin typeface="DM Sans" pitchFamily="34" charset="0"/>
                <a:ea typeface="DM Sans" pitchFamily="34" charset="-122"/>
                <a:cs typeface="DM Sans" pitchFamily="34" charset="-120"/>
              </a:rPr>
              <a:t>FinEdge $95k · NovaPharma $80k · ShopSwift $55k · Meridian $45k · ClearPath $40k · AgroLink ~$37k · HealthFirst $30k · VoltEnergy $28k</a:t>
            </a:r>
            <a:endParaRPr lang="en-US" sz="1300" dirty="0"/>
          </a:p>
        </p:txBody>
      </p:sp>
      <p:sp>
        <p:nvSpPr>
          <p:cNvPr id="8" name="Shape 6"/>
          <p:cNvSpPr/>
          <p:nvPr/>
        </p:nvSpPr>
        <p:spPr>
          <a:xfrm>
            <a:off x="5286375" y="2152015"/>
            <a:ext cx="6089650" cy="1050290"/>
          </a:xfrm>
          <a:prstGeom prst="roundRect">
            <a:avLst>
              <a:gd name="adj" fmla="val 11790"/>
            </a:avLst>
          </a:prstGeom>
          <a:solidFill>
            <a:srgbClr val="FFFFFF"/>
          </a:solidFill>
          <a:ln w="6350">
            <a:solidFill>
              <a:srgbClr val="E2E5F0"/>
            </a:solidFill>
            <a:prstDash val="solid"/>
          </a:ln>
        </p:spPr>
      </p:sp>
      <p:sp>
        <p:nvSpPr>
          <p:cNvPr id="9" name="Text 7"/>
          <p:cNvSpPr/>
          <p:nvPr/>
        </p:nvSpPr>
        <p:spPr>
          <a:xfrm>
            <a:off x="5542280" y="2357120"/>
            <a:ext cx="1555671"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09"/>
                </a:solidFill>
                <a:latin typeface="DM Sans" pitchFamily="34" charset="0"/>
                <a:ea typeface="DM Sans" pitchFamily="34" charset="-122"/>
                <a:cs typeface="DM Sans" pitchFamily="34" charset="-120"/>
              </a:rPr>
              <a:t>0 / 40</a:t>
            </a:r>
            <a:endParaRPr lang="en-US" sz="3600" dirty="0"/>
          </a:p>
        </p:txBody>
      </p:sp>
      <p:sp>
        <p:nvSpPr>
          <p:cNvPr id="10" name="Text 8"/>
          <p:cNvSpPr/>
          <p:nvPr/>
        </p:nvSpPr>
        <p:spPr>
          <a:xfrm>
            <a:off x="7097950" y="2548572"/>
            <a:ext cx="414283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459"/>
                </a:solidFill>
                <a:latin typeface="DM Sans" pitchFamily="34" charset="0"/>
                <a:ea typeface="DM Sans" pitchFamily="34" charset="-122"/>
                <a:cs typeface="DM Sans" pitchFamily="34" charset="-120"/>
              </a:rPr>
              <a:t>CRM records with a next follow-up date</a:t>
            </a:r>
            <a:endParaRPr lang="en-US" sz="1500" dirty="0"/>
          </a:p>
        </p:txBody>
      </p:sp>
      <p:sp>
        <p:nvSpPr>
          <p:cNvPr id="11" name="Shape 9"/>
          <p:cNvSpPr/>
          <p:nvPr/>
        </p:nvSpPr>
        <p:spPr>
          <a:xfrm>
            <a:off x="5286375" y="3361055"/>
            <a:ext cx="6089650" cy="1050290"/>
          </a:xfrm>
          <a:prstGeom prst="roundRect">
            <a:avLst>
              <a:gd name="adj" fmla="val 11790"/>
            </a:avLst>
          </a:prstGeom>
          <a:solidFill>
            <a:srgbClr val="FFFFFF"/>
          </a:solidFill>
          <a:ln w="6350">
            <a:solidFill>
              <a:srgbClr val="E2E5F0"/>
            </a:solidFill>
            <a:prstDash val="solid"/>
          </a:ln>
        </p:spPr>
      </p:sp>
      <p:sp>
        <p:nvSpPr>
          <p:cNvPr id="12" name="Text 10"/>
          <p:cNvSpPr/>
          <p:nvPr/>
        </p:nvSpPr>
        <p:spPr>
          <a:xfrm>
            <a:off x="5542280" y="3566160"/>
            <a:ext cx="14732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09"/>
                </a:solidFill>
                <a:latin typeface="DM Sans" pitchFamily="34" charset="0"/>
                <a:ea typeface="DM Sans" pitchFamily="34" charset="-122"/>
                <a:cs typeface="DM Sans" pitchFamily="34" charset="-120"/>
              </a:rPr>
              <a:t>3 wks</a:t>
            </a:r>
            <a:endParaRPr lang="en-US" sz="3600" dirty="0"/>
          </a:p>
        </p:txBody>
      </p:sp>
      <p:sp>
        <p:nvSpPr>
          <p:cNvPr id="13" name="Text 11"/>
          <p:cNvSpPr/>
          <p:nvPr/>
        </p:nvSpPr>
        <p:spPr>
          <a:xfrm>
            <a:off x="7015480" y="3629025"/>
            <a:ext cx="422777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459"/>
                </a:solidFill>
                <a:latin typeface="DM Sans" pitchFamily="34" charset="0"/>
                <a:ea typeface="DM Sans" pitchFamily="34" charset="-122"/>
                <a:cs typeface="DM Sans" pitchFamily="34" charset="-120"/>
              </a:rPr>
              <a:t>FinEdge — our biggest deal — waited for a reply after compliance cleared</a:t>
            </a:r>
            <a:endParaRPr lang="en-US" sz="1500" dirty="0"/>
          </a:p>
        </p:txBody>
      </p:sp>
      <p:sp>
        <p:nvSpPr>
          <p:cNvPr id="14" name="Shape 12"/>
          <p:cNvSpPr/>
          <p:nvPr/>
        </p:nvSpPr>
        <p:spPr>
          <a:xfrm>
            <a:off x="5286375" y="4570095"/>
            <a:ext cx="6089650" cy="1050290"/>
          </a:xfrm>
          <a:prstGeom prst="roundRect">
            <a:avLst>
              <a:gd name="adj" fmla="val 11790"/>
            </a:avLst>
          </a:prstGeom>
          <a:solidFill>
            <a:srgbClr val="FFFFFF"/>
          </a:solidFill>
          <a:ln w="6350">
            <a:solidFill>
              <a:srgbClr val="E2E5F0"/>
            </a:solidFill>
            <a:prstDash val="solid"/>
          </a:ln>
        </p:spPr>
      </p:sp>
      <p:sp>
        <p:nvSpPr>
          <p:cNvPr id="15" name="Text 13"/>
          <p:cNvSpPr/>
          <p:nvPr/>
        </p:nvSpPr>
        <p:spPr>
          <a:xfrm>
            <a:off x="5542280" y="4775200"/>
            <a:ext cx="1320800"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45309"/>
                </a:solidFill>
                <a:latin typeface="DM Sans" pitchFamily="34" charset="0"/>
                <a:ea typeface="DM Sans" pitchFamily="34" charset="-122"/>
                <a:cs typeface="DM Sans" pitchFamily="34" charset="-120"/>
              </a:rPr>
              <a:t>2×</a:t>
            </a:r>
            <a:endParaRPr lang="en-US" sz="3600" dirty="0"/>
          </a:p>
        </p:txBody>
      </p:sp>
      <p:sp>
        <p:nvSpPr>
          <p:cNvPr id="16" name="Text 14"/>
          <p:cNvSpPr/>
          <p:nvPr/>
        </p:nvSpPr>
        <p:spPr>
          <a:xfrm>
            <a:off x="7015480" y="4838065"/>
            <a:ext cx="4227779"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459"/>
                </a:solidFill>
                <a:latin typeface="DM Sans" pitchFamily="34" charset="0"/>
                <a:ea typeface="DM Sans" pitchFamily="34" charset="-122"/>
                <a:cs typeface="DM Sans" pitchFamily="34" charset="-120"/>
              </a:rPr>
              <a:t>"Update the CRM same day" was agreed — April and July — and failed both times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DISCOVERY · WHO WE BUILT FOR</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The founder-seller who sells between meetings</a:t>
            </a:r>
            <a:endParaRPr lang="en-US" sz="3200" dirty="0"/>
          </a:p>
        </p:txBody>
      </p:sp>
      <p:sp>
        <p:nvSpPr>
          <p:cNvPr id="4" name="Shape 2"/>
          <p:cNvSpPr/>
          <p:nvPr/>
        </p:nvSpPr>
        <p:spPr>
          <a:xfrm>
            <a:off x="812800" y="1879600"/>
            <a:ext cx="3937000" cy="3962400"/>
          </a:xfrm>
          <a:prstGeom prst="roundRect">
            <a:avLst>
              <a:gd name="adj" fmla="val 3871"/>
            </a:avLst>
          </a:prstGeom>
          <a:solidFill>
            <a:srgbClr val="141A33"/>
          </a:solidFill>
          <a:ln/>
        </p:spPr>
      </p:sp>
      <p:sp>
        <p:nvSpPr>
          <p:cNvPr id="5" name="Text 3"/>
          <p:cNvSpPr/>
          <p:nvPr/>
        </p:nvSpPr>
        <p:spPr>
          <a:xfrm>
            <a:off x="1117600" y="2480311"/>
            <a:ext cx="36322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5B4FC"/>
                </a:solidFill>
                <a:latin typeface="DM Sans" pitchFamily="34" charset="0"/>
                <a:ea typeface="DM Sans" pitchFamily="34" charset="-122"/>
                <a:cs typeface="DM Sans" pitchFamily="34" charset="-120"/>
              </a:rPr>
              <a:t>KARANDEEP · CEO &amp; FOUNDER-SELLER</a:t>
            </a:r>
            <a:endParaRPr lang="en-US" sz="1200" dirty="0"/>
          </a:p>
        </p:txBody>
      </p:sp>
      <p:sp>
        <p:nvSpPr>
          <p:cNvPr id="6" name="Text 4"/>
          <p:cNvSpPr/>
          <p:nvPr/>
        </p:nvSpPr>
        <p:spPr>
          <a:xfrm>
            <a:off x="1117600" y="2846070"/>
            <a:ext cx="3427222" cy="184150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7FB"/>
                </a:solidFill>
                <a:latin typeface="DM Sans" pitchFamily="34" charset="0"/>
                <a:ea typeface="DM Sans" pitchFamily="34" charset="-122"/>
                <a:cs typeface="DM Sans" pitchFamily="34" charset="-120"/>
              </a:rPr>
              <a:t>"I answer emails on my phone between meetings and it never gets into the system. By the time I'm at a laptop it's gone."</a:t>
            </a:r>
            <a:endParaRPr lang="en-US" sz="2200" dirty="0"/>
          </a:p>
        </p:txBody>
      </p:sp>
      <p:sp>
        <p:nvSpPr>
          <p:cNvPr id="7" name="Text 5"/>
          <p:cNvSpPr/>
          <p:nvPr/>
        </p:nvSpPr>
        <p:spPr>
          <a:xfrm>
            <a:off x="1117600" y="4814570"/>
            <a:ext cx="34272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E6"/>
                </a:solidFill>
                <a:latin typeface="DM Sans" pitchFamily="34" charset="0"/>
                <a:ea typeface="DM Sans" pitchFamily="34" charset="-122"/>
                <a:cs typeface="DM Sans" pitchFamily="34" charset="-120"/>
              </a:rPr>
              <a:t>Composite of Bhavin, Dhaval and Karandeep · secondary user: Jay, sales exec</a:t>
            </a:r>
            <a:endParaRPr lang="en-US" sz="1200" dirty="0"/>
          </a:p>
        </p:txBody>
      </p:sp>
      <p:sp>
        <p:nvSpPr>
          <p:cNvPr id="8" name="Shape 6"/>
          <p:cNvSpPr/>
          <p:nvPr/>
        </p:nvSpPr>
        <p:spPr>
          <a:xfrm>
            <a:off x="5057775" y="1882775"/>
            <a:ext cx="3079750" cy="1898650"/>
          </a:xfrm>
          <a:prstGeom prst="roundRect">
            <a:avLst>
              <a:gd name="adj" fmla="val 6522"/>
            </a:avLst>
          </a:prstGeom>
          <a:solidFill>
            <a:srgbClr val="FFFFFF"/>
          </a:solidFill>
          <a:ln w="6350">
            <a:solidFill>
              <a:srgbClr val="E2E5F0"/>
            </a:solidFill>
            <a:prstDash val="solid"/>
          </a:ln>
        </p:spPr>
      </p:sp>
      <p:sp>
        <p:nvSpPr>
          <p:cNvPr id="9" name="Text 7"/>
          <p:cNvSpPr/>
          <p:nvPr/>
        </p:nvSpPr>
        <p:spPr>
          <a:xfrm>
            <a:off x="5262880" y="2087880"/>
            <a:ext cx="27496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Thinks</a:t>
            </a:r>
            <a:endParaRPr lang="en-US" sz="1600" dirty="0"/>
          </a:p>
        </p:txBody>
      </p:sp>
      <p:sp>
        <p:nvSpPr>
          <p:cNvPr id="10" name="Text 8"/>
          <p:cNvSpPr/>
          <p:nvPr/>
        </p:nvSpPr>
        <p:spPr>
          <a:xfrm>
            <a:off x="5262880" y="2407920"/>
            <a:ext cx="274962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"I might lose deals because I can't remember earlier points or follow up."</a:t>
            </a:r>
            <a:endParaRPr lang="en-US" sz="1300" dirty="0"/>
          </a:p>
        </p:txBody>
      </p:sp>
      <p:sp>
        <p:nvSpPr>
          <p:cNvPr id="11" name="Shape 9"/>
          <p:cNvSpPr/>
          <p:nvPr/>
        </p:nvSpPr>
        <p:spPr>
          <a:xfrm>
            <a:off x="8296275" y="1882775"/>
            <a:ext cx="3079750" cy="1898650"/>
          </a:xfrm>
          <a:prstGeom prst="roundRect">
            <a:avLst>
              <a:gd name="adj" fmla="val 6522"/>
            </a:avLst>
          </a:prstGeom>
          <a:solidFill>
            <a:srgbClr val="FFFFFF"/>
          </a:solidFill>
          <a:ln w="6350">
            <a:solidFill>
              <a:srgbClr val="E2E5F0"/>
            </a:solidFill>
            <a:prstDash val="solid"/>
          </a:ln>
        </p:spPr>
      </p:sp>
      <p:sp>
        <p:nvSpPr>
          <p:cNvPr id="12" name="Text 10"/>
          <p:cNvSpPr/>
          <p:nvPr/>
        </p:nvSpPr>
        <p:spPr>
          <a:xfrm>
            <a:off x="8501380" y="2087880"/>
            <a:ext cx="27496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Feels</a:t>
            </a:r>
            <a:endParaRPr lang="en-US" sz="1600" dirty="0"/>
          </a:p>
        </p:txBody>
      </p:sp>
      <p:sp>
        <p:nvSpPr>
          <p:cNvPr id="13" name="Text 11"/>
          <p:cNvSpPr/>
          <p:nvPr/>
        </p:nvSpPr>
        <p:spPr>
          <a:xfrm>
            <a:off x="8501380" y="2407920"/>
            <a:ext cx="274962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Overwhelmed and pressured; guilty when warm clients have to chase us.</a:t>
            </a:r>
            <a:endParaRPr lang="en-US" sz="1300" dirty="0"/>
          </a:p>
        </p:txBody>
      </p:sp>
      <p:sp>
        <p:nvSpPr>
          <p:cNvPr id="14" name="Shape 12"/>
          <p:cNvSpPr/>
          <p:nvPr/>
        </p:nvSpPr>
        <p:spPr>
          <a:xfrm>
            <a:off x="5057775" y="3940175"/>
            <a:ext cx="3079750" cy="1898650"/>
          </a:xfrm>
          <a:prstGeom prst="roundRect">
            <a:avLst>
              <a:gd name="adj" fmla="val 6522"/>
            </a:avLst>
          </a:prstGeom>
          <a:solidFill>
            <a:srgbClr val="FFFFFF"/>
          </a:solidFill>
          <a:ln w="6350">
            <a:solidFill>
              <a:srgbClr val="E2E5F0"/>
            </a:solidFill>
            <a:prstDash val="solid"/>
          </a:ln>
        </p:spPr>
      </p:sp>
      <p:sp>
        <p:nvSpPr>
          <p:cNvPr id="15" name="Text 13"/>
          <p:cNvSpPr/>
          <p:nvPr/>
        </p:nvSpPr>
        <p:spPr>
          <a:xfrm>
            <a:off x="5262880" y="4145280"/>
            <a:ext cx="27496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Says</a:t>
            </a:r>
            <a:endParaRPr lang="en-US" sz="1600" dirty="0"/>
          </a:p>
        </p:txBody>
      </p:sp>
      <p:sp>
        <p:nvSpPr>
          <p:cNvPr id="16" name="Text 14"/>
          <p:cNvSpPr/>
          <p:nvPr/>
        </p:nvSpPr>
        <p:spPr>
          <a:xfrm>
            <a:off x="5262880" y="4465320"/>
            <a:ext cx="274962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"We find out what's urgent by accident." · "Half of these will go cold."</a:t>
            </a:r>
            <a:endParaRPr lang="en-US" sz="1300" dirty="0"/>
          </a:p>
        </p:txBody>
      </p:sp>
      <p:sp>
        <p:nvSpPr>
          <p:cNvPr id="17" name="Shape 15"/>
          <p:cNvSpPr/>
          <p:nvPr/>
        </p:nvSpPr>
        <p:spPr>
          <a:xfrm>
            <a:off x="8296275" y="3940175"/>
            <a:ext cx="3079750" cy="1898650"/>
          </a:xfrm>
          <a:prstGeom prst="roundRect">
            <a:avLst>
              <a:gd name="adj" fmla="val 6522"/>
            </a:avLst>
          </a:prstGeom>
          <a:solidFill>
            <a:srgbClr val="FFFFFF"/>
          </a:solidFill>
          <a:ln w="6350">
            <a:solidFill>
              <a:srgbClr val="E2E5F0"/>
            </a:solidFill>
            <a:prstDash val="solid"/>
          </a:ln>
        </p:spPr>
      </p:sp>
      <p:sp>
        <p:nvSpPr>
          <p:cNvPr id="18" name="Text 16"/>
          <p:cNvSpPr/>
          <p:nvPr/>
        </p:nvSpPr>
        <p:spPr>
          <a:xfrm>
            <a:off x="8501380" y="4145280"/>
            <a:ext cx="274962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Does</a:t>
            </a:r>
            <a:endParaRPr lang="en-US" sz="1600" dirty="0"/>
          </a:p>
        </p:txBody>
      </p:sp>
      <p:sp>
        <p:nvSpPr>
          <p:cNvPr id="19" name="Text 17"/>
          <p:cNvSpPr/>
          <p:nvPr/>
        </p:nvSpPr>
        <p:spPr>
          <a:xfrm>
            <a:off x="8501380" y="4465320"/>
            <a:ext cx="274962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Promises on the phone, pushes CRM updates to "later", searches the inbox mid-meeting.</a:t>
            </a:r>
            <a:endParaRPr lang="en-US" sz="1300" dirty="0"/>
          </a:p>
        </p:txBody>
      </p:sp>
      <p:sp>
        <p:nvSpPr>
          <p:cNvPr id="20" name="Text 18"/>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03 · Step 1: persona &amp; empathy map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DISCOVERY · 5 WHYS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From "we're losing revenue" to the real root cause</a:t>
            </a:r>
            <a:endParaRPr lang="en-US" sz="3200" dirty="0"/>
          </a:p>
        </p:txBody>
      </p:sp>
      <p:sp>
        <p:nvSpPr>
          <p:cNvPr id="4" name="Text 2"/>
          <p:cNvSpPr/>
          <p:nvPr/>
        </p:nvSpPr>
        <p:spPr>
          <a:xfrm>
            <a:off x="812800" y="1833245"/>
            <a:ext cx="749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F46E5"/>
                </a:solidFill>
                <a:latin typeface="DM Sans" pitchFamily="34" charset="0"/>
                <a:ea typeface="DM Sans" pitchFamily="34" charset="-122"/>
                <a:cs typeface="DM Sans" pitchFamily="34" charset="-120"/>
              </a:rPr>
              <a:t>Why 1</a:t>
            </a:r>
            <a:endParaRPr lang="en-US" sz="1300" dirty="0"/>
          </a:p>
        </p:txBody>
      </p:sp>
      <p:sp>
        <p:nvSpPr>
          <p:cNvPr id="5" name="Text 3"/>
          <p:cNvSpPr/>
          <p:nvPr/>
        </p:nvSpPr>
        <p:spPr>
          <a:xfrm>
            <a:off x="1663700" y="1828800"/>
            <a:ext cx="1000696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459"/>
                </a:solidFill>
                <a:latin typeface="DM Sans" pitchFamily="34" charset="0"/>
                <a:ea typeface="DM Sans" pitchFamily="34" charset="-122"/>
                <a:cs typeface="DM Sans" pitchFamily="34" charset="-120"/>
              </a:rPr>
              <a:t>Revenue slips → </a:t>
            </a:r>
            <a:r>
              <a:rPr lang="en-US" sz="1400" b="1" dirty="0">
                <a:solidFill>
                  <a:srgbClr val="3D4459"/>
                </a:solidFill>
                <a:latin typeface="DM Sans" pitchFamily="34" charset="0"/>
                <a:ea typeface="DM Sans" pitchFamily="34" charset="-122"/>
                <a:cs typeface="DM Sans" pitchFamily="34" charset="-120"/>
              </a:rPr>
              <a:t>follow-ups and client asks don't happen</a:t>
            </a:r>
            <a:r>
              <a:rPr lang="en-US" sz="1400" dirty="0">
                <a:solidFill>
                  <a:srgbClr val="3D4459"/>
                </a:solidFill>
                <a:latin typeface="DM Sans" pitchFamily="34" charset="0"/>
                <a:ea typeface="DM Sans" pitchFamily="34" charset="-122"/>
                <a:cs typeface="DM Sans" pitchFamily="34" charset="-120"/>
              </a:rPr>
              <a:t> ($410k waiting on AtliQ)</a:t>
            </a:r>
            <a:endParaRPr lang="en-US" sz="1400" dirty="0"/>
          </a:p>
        </p:txBody>
      </p:sp>
      <p:sp>
        <p:nvSpPr>
          <p:cNvPr id="6" name="Text 4"/>
          <p:cNvSpPr/>
          <p:nvPr/>
        </p:nvSpPr>
        <p:spPr>
          <a:xfrm>
            <a:off x="812800" y="2162175"/>
            <a:ext cx="749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F46E5"/>
                </a:solidFill>
                <a:latin typeface="DM Sans" pitchFamily="34" charset="0"/>
                <a:ea typeface="DM Sans" pitchFamily="34" charset="-122"/>
                <a:cs typeface="DM Sans" pitchFamily="34" charset="-120"/>
              </a:rPr>
              <a:t>Why 2</a:t>
            </a:r>
            <a:endParaRPr lang="en-US" sz="1300" dirty="0"/>
          </a:p>
        </p:txBody>
      </p:sp>
      <p:sp>
        <p:nvSpPr>
          <p:cNvPr id="7" name="Text 5"/>
          <p:cNvSpPr/>
          <p:nvPr/>
        </p:nvSpPr>
        <p:spPr>
          <a:xfrm>
            <a:off x="1663700" y="2157730"/>
            <a:ext cx="1000696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459"/>
                </a:solidFill>
                <a:latin typeface="DM Sans" pitchFamily="34" charset="0"/>
                <a:ea typeface="DM Sans" pitchFamily="34" charset="-122"/>
                <a:cs typeface="DM Sans" pitchFamily="34" charset="-120"/>
              </a:rPr>
              <a:t>Nobody sees them coming → </a:t>
            </a:r>
            <a:r>
              <a:rPr lang="en-US" sz="1400" b="1" dirty="0">
                <a:solidFill>
                  <a:srgbClr val="3D4459"/>
                </a:solidFill>
                <a:latin typeface="DM Sans" pitchFamily="34" charset="0"/>
                <a:ea typeface="DM Sans" pitchFamily="34" charset="-122"/>
                <a:cs typeface="DM Sans" pitchFamily="34" charset="-120"/>
              </a:rPr>
              <a:t>the CRM is out of date</a:t>
            </a:r>
            <a:r>
              <a:rPr lang="en-US" sz="1400" dirty="0">
                <a:solidFill>
                  <a:srgbClr val="3D4459"/>
                </a:solidFill>
                <a:latin typeface="DM Sans" pitchFamily="34" charset="0"/>
                <a:ea typeface="DM Sans" pitchFamily="34" charset="-122"/>
                <a:cs typeface="DM Sans" pitchFamily="34" charset="-120"/>
              </a:rPr>
              <a:t> (0/40 follow-up dates, wrong stages, 5 leads missing)</a:t>
            </a:r>
            <a:endParaRPr lang="en-US" sz="1400" dirty="0"/>
          </a:p>
        </p:txBody>
      </p:sp>
      <p:sp>
        <p:nvSpPr>
          <p:cNvPr id="8" name="Text 6"/>
          <p:cNvSpPr/>
          <p:nvPr/>
        </p:nvSpPr>
        <p:spPr>
          <a:xfrm>
            <a:off x="812800" y="2491105"/>
            <a:ext cx="749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F46E5"/>
                </a:solidFill>
                <a:latin typeface="DM Sans" pitchFamily="34" charset="0"/>
                <a:ea typeface="DM Sans" pitchFamily="34" charset="-122"/>
                <a:cs typeface="DM Sans" pitchFamily="34" charset="-120"/>
              </a:rPr>
              <a:t>Why 3</a:t>
            </a:r>
            <a:endParaRPr lang="en-US" sz="1300" dirty="0"/>
          </a:p>
        </p:txBody>
      </p:sp>
      <p:sp>
        <p:nvSpPr>
          <p:cNvPr id="9" name="Text 7"/>
          <p:cNvSpPr/>
          <p:nvPr/>
        </p:nvSpPr>
        <p:spPr>
          <a:xfrm>
            <a:off x="1663700" y="2486661"/>
            <a:ext cx="1000696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459"/>
                </a:solidFill>
                <a:latin typeface="DM Sans" pitchFamily="34" charset="0"/>
                <a:ea typeface="DM Sans" pitchFamily="34" charset="-122"/>
                <a:cs typeface="DM Sans" pitchFamily="34" charset="-120"/>
              </a:rPr>
              <a:t>Context is lost → </a:t>
            </a:r>
            <a:r>
              <a:rPr lang="en-US" sz="1400" b="1" dirty="0">
                <a:solidFill>
                  <a:srgbClr val="3D4459"/>
                </a:solidFill>
                <a:latin typeface="DM Sans" pitchFamily="34" charset="0"/>
                <a:ea typeface="DM Sans" pitchFamily="34" charset="-122"/>
                <a:cs typeface="DM Sans" pitchFamily="34" charset="-120"/>
              </a:rPr>
              <a:t>information arrives scattered</a:t>
            </a:r>
            <a:r>
              <a:rPr lang="en-US" sz="1400" dirty="0">
                <a:solidFill>
                  <a:srgbClr val="3D4459"/>
                </a:solidFill>
                <a:latin typeface="DM Sans" pitchFamily="34" charset="0"/>
                <a:ea typeface="DM Sans" pitchFamily="34" charset="-122"/>
                <a:cs typeface="DM Sans" pitchFamily="34" charset="-120"/>
              </a:rPr>
              <a:t> and is typed in days later, if at all</a:t>
            </a:r>
            <a:endParaRPr lang="en-US" sz="1400" dirty="0"/>
          </a:p>
        </p:txBody>
      </p:sp>
      <p:sp>
        <p:nvSpPr>
          <p:cNvPr id="10" name="Text 8"/>
          <p:cNvSpPr/>
          <p:nvPr/>
        </p:nvSpPr>
        <p:spPr>
          <a:xfrm>
            <a:off x="812800" y="2820036"/>
            <a:ext cx="749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F46E5"/>
                </a:solidFill>
                <a:latin typeface="DM Sans" pitchFamily="34" charset="0"/>
                <a:ea typeface="DM Sans" pitchFamily="34" charset="-122"/>
                <a:cs typeface="DM Sans" pitchFamily="34" charset="-120"/>
              </a:rPr>
              <a:t>Why 4</a:t>
            </a:r>
            <a:endParaRPr lang="en-US" sz="1300" dirty="0"/>
          </a:p>
        </p:txBody>
      </p:sp>
      <p:sp>
        <p:nvSpPr>
          <p:cNvPr id="11" name="Text 9"/>
          <p:cNvSpPr/>
          <p:nvPr/>
        </p:nvSpPr>
        <p:spPr>
          <a:xfrm>
            <a:off x="1663700" y="2815591"/>
            <a:ext cx="1000696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459"/>
                </a:solidFill>
                <a:latin typeface="DM Sans" pitchFamily="34" charset="0"/>
                <a:ea typeface="DM Sans" pitchFamily="34" charset="-122"/>
                <a:cs typeface="DM Sans" pitchFamily="34" charset="-120"/>
              </a:rPr>
              <a:t>No time to update → </a:t>
            </a:r>
            <a:r>
              <a:rPr lang="en-US" sz="1400" b="1" dirty="0">
                <a:solidFill>
                  <a:srgbClr val="3D4459"/>
                </a:solidFill>
                <a:latin typeface="DM Sans" pitchFamily="34" charset="0"/>
                <a:ea typeface="DM Sans" pitchFamily="34" charset="-122"/>
                <a:cs typeface="DM Sans" pitchFamily="34" charset="-120"/>
              </a:rPr>
              <a:t>selling happens on the phone</a:t>
            </a:r>
            <a:r>
              <a:rPr lang="en-US" sz="1400" dirty="0">
                <a:solidFill>
                  <a:srgbClr val="3D4459"/>
                </a:solidFill>
                <a:latin typeface="DM Sans" pitchFamily="34" charset="0"/>
                <a:ea typeface="DM Sans" pitchFamily="34" charset="-122"/>
                <a:cs typeface="DM Sans" pitchFamily="34" charset="-120"/>
              </a:rPr>
              <a:t>; data entry pays nothing back, so discipline failed twice</a:t>
            </a:r>
            <a:endParaRPr lang="en-US" sz="1400" dirty="0"/>
          </a:p>
        </p:txBody>
      </p:sp>
      <p:sp>
        <p:nvSpPr>
          <p:cNvPr id="12" name="Text 10"/>
          <p:cNvSpPr/>
          <p:nvPr/>
        </p:nvSpPr>
        <p:spPr>
          <a:xfrm>
            <a:off x="812800" y="3148966"/>
            <a:ext cx="7493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F46E5"/>
                </a:solidFill>
                <a:latin typeface="DM Sans" pitchFamily="34" charset="0"/>
                <a:ea typeface="DM Sans" pitchFamily="34" charset="-122"/>
                <a:cs typeface="DM Sans" pitchFamily="34" charset="-120"/>
              </a:rPr>
              <a:t>Why 5</a:t>
            </a:r>
            <a:endParaRPr lang="en-US" sz="1300" dirty="0"/>
          </a:p>
        </p:txBody>
      </p:sp>
      <p:sp>
        <p:nvSpPr>
          <p:cNvPr id="13" name="Text 11"/>
          <p:cNvSpPr/>
          <p:nvPr/>
        </p:nvSpPr>
        <p:spPr>
          <a:xfrm>
            <a:off x="1663700" y="3144520"/>
            <a:ext cx="10006965"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D4459"/>
                </a:solidFill>
                <a:latin typeface="DM Sans" pitchFamily="34" charset="0"/>
                <a:ea typeface="DM Sans" pitchFamily="34" charset="-122"/>
                <a:cs typeface="DM Sans" pitchFamily="34" charset="-120"/>
              </a:rPr>
              <a:t>The CRM is built on </a:t>
            </a:r>
            <a:r>
              <a:rPr lang="en-US" sz="1400" b="1" dirty="0">
                <a:solidFill>
                  <a:srgbClr val="3D4459"/>
                </a:solidFill>
                <a:latin typeface="DM Sans" pitchFamily="34" charset="0"/>
                <a:ea typeface="DM Sans" pitchFamily="34" charset="-122"/>
                <a:cs typeface="DM Sans" pitchFamily="34" charset="-120"/>
              </a:rPr>
              <a:t>manual entry</a:t>
            </a:r>
            <a:r>
              <a:rPr lang="en-US" sz="1400" dirty="0">
                <a:solidFill>
                  <a:srgbClr val="3D4459"/>
                </a:solidFill>
                <a:latin typeface="DM Sans" pitchFamily="34" charset="0"/>
                <a:ea typeface="DM Sans" pitchFamily="34" charset="-122"/>
                <a:cs typeface="DM Sans" pitchFamily="34" charset="-120"/>
              </a:rPr>
              <a:t>, while the real signals live in conversations nobody has time to read back</a:t>
            </a:r>
            <a:endParaRPr lang="en-US" sz="1400" dirty="0"/>
          </a:p>
        </p:txBody>
      </p:sp>
      <p:sp>
        <p:nvSpPr>
          <p:cNvPr id="14" name="Text 12"/>
          <p:cNvSpPr/>
          <p:nvPr/>
        </p:nvSpPr>
        <p:spPr>
          <a:xfrm>
            <a:off x="812800" y="3638550"/>
            <a:ext cx="10566400" cy="1259840"/>
          </a:xfrm>
          <a:prstGeom prst="roundRect">
            <a:avLst>
              <a:gd name="adj" fmla="val 10081"/>
            </a:avLst>
          </a:prstGeom>
          <a:solidFill>
            <a:srgbClr val="141A33"/>
          </a:solidFill>
          <a:ln/>
        </p:spPr>
        <p:txBody>
          <a:bodyPr wrap="square" lIns="216803" tIns="166003" rIns="0" bIns="140603" rtlCol="0" anchor="t">
            <a:normAutofit/>
          </a:bodyPr>
          <a:lstStyle/>
          <a:p>
            <a:pPr algn="l" indent="0" marL="0">
              <a:lnSpc>
                <a:spcPts val="2240"/>
              </a:lnSpc>
              <a:buNone/>
            </a:pPr>
            <a:r>
              <a:rPr lang="en-US" sz="1600" b="1" dirty="0">
                <a:solidFill>
                  <a:srgbClr val="FBBF24"/>
                </a:solidFill>
                <a:latin typeface="DM Sans" pitchFamily="34" charset="0"/>
                <a:ea typeface="DM Sans" pitchFamily="34" charset="-122"/>
                <a:cs typeface="DM Sans" pitchFamily="34" charset="-120"/>
              </a:rPr>
              <a:t>Root cause:</a:t>
            </a:r>
            <a:r>
              <a:rPr lang="en-US" sz="1600" dirty="0">
                <a:solidFill>
                  <a:srgbClr val="F6F7FB"/>
                </a:solidFill>
                <a:latin typeface="DM Sans" pitchFamily="34" charset="0"/>
                <a:ea typeface="DM Sans" pitchFamily="34" charset="-122"/>
                <a:cs typeface="DM Sans" pitchFamily="34" charset="-120"/>
              </a:rPr>
              <a:t> the signals that drive revenue — asks, promises, deadlines, revisits, cross-sells — stay buried in unstructured conversations, with no owner. The fix is a system that comes to the data, not more discipline.</a:t>
            </a:r>
            <a:endParaRPr lang="en-US" sz="1600" dirty="0"/>
          </a:p>
        </p:txBody>
      </p:sp>
      <p:sp>
        <p:nvSpPr>
          <p:cNvPr id="15"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04 · Step 1: 5 Whys &amp; problem statement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DISCOVERY · WHAT THE DATA SHOWED</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Revenue leaks in five repeatable patterns</a:t>
            </a:r>
            <a:endParaRPr lang="en-US" sz="3200" dirty="0"/>
          </a:p>
        </p:txBody>
      </p:sp>
      <p:sp>
        <p:nvSpPr>
          <p:cNvPr id="4" name="Shape 2"/>
          <p:cNvSpPr/>
          <p:nvPr/>
        </p:nvSpPr>
        <p:spPr>
          <a:xfrm>
            <a:off x="815975" y="1882775"/>
            <a:ext cx="1985010" cy="3384550"/>
          </a:xfrm>
          <a:prstGeom prst="roundRect">
            <a:avLst>
              <a:gd name="adj" fmla="val 6238"/>
            </a:avLst>
          </a:prstGeom>
          <a:solidFill>
            <a:srgbClr val="FFFFFF"/>
          </a:solidFill>
          <a:ln w="6350">
            <a:solidFill>
              <a:srgbClr val="E2E5F0"/>
            </a:solidFill>
            <a:prstDash val="solid"/>
          </a:ln>
        </p:spPr>
      </p:sp>
      <p:sp>
        <p:nvSpPr>
          <p:cNvPr id="5" name="Text 3"/>
          <p:cNvSpPr/>
          <p:nvPr/>
        </p:nvSpPr>
        <p:spPr>
          <a:xfrm>
            <a:off x="1021080" y="2087882"/>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4F46E5"/>
                </a:solidFill>
                <a:latin typeface="DM Sans" pitchFamily="34" charset="0"/>
                <a:ea typeface="DM Sans" pitchFamily="34" charset="-122"/>
                <a:cs typeface="DM Sans" pitchFamily="34" charset="-120"/>
              </a:rPr>
              <a:t>01</a:t>
            </a:r>
            <a:endParaRPr lang="en-US" sz="2400" dirty="0"/>
          </a:p>
        </p:txBody>
      </p:sp>
      <p:sp>
        <p:nvSpPr>
          <p:cNvPr id="6" name="Text 4"/>
          <p:cNvSpPr/>
          <p:nvPr/>
        </p:nvSpPr>
        <p:spPr>
          <a:xfrm>
            <a:off x="1021080" y="2616200"/>
            <a:ext cx="16256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Dropped promises</a:t>
            </a:r>
            <a:endParaRPr lang="en-US" sz="1600" dirty="0"/>
          </a:p>
        </p:txBody>
      </p:sp>
      <p:sp>
        <p:nvSpPr>
          <p:cNvPr id="7" name="Text 5"/>
          <p:cNvSpPr/>
          <p:nvPr/>
        </p:nvSpPr>
        <p:spPr>
          <a:xfrm>
            <a:off x="1021080" y="3205482"/>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"I'll send the case study" — said, never sent.</a:t>
            </a:r>
            <a:endParaRPr lang="en-US" sz="1300" dirty="0"/>
          </a:p>
        </p:txBody>
      </p:sp>
      <p:sp>
        <p:nvSpPr>
          <p:cNvPr id="8" name="Text 6"/>
          <p:cNvSpPr/>
          <p:nvPr/>
        </p:nvSpPr>
        <p:spPr>
          <a:xfrm>
            <a:off x="1021080" y="4000500"/>
            <a:ext cx="16256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ByteBridge · CloudNine · VoltEnergy</a:t>
            </a:r>
            <a:endParaRPr lang="en-US" sz="1200" dirty="0"/>
          </a:p>
        </p:txBody>
      </p:sp>
      <p:sp>
        <p:nvSpPr>
          <p:cNvPr id="9" name="Shape 7"/>
          <p:cNvSpPr/>
          <p:nvPr/>
        </p:nvSpPr>
        <p:spPr>
          <a:xfrm>
            <a:off x="2959735" y="1882775"/>
            <a:ext cx="1985010" cy="3384550"/>
          </a:xfrm>
          <a:prstGeom prst="roundRect">
            <a:avLst>
              <a:gd name="adj" fmla="val 6238"/>
            </a:avLst>
          </a:prstGeom>
          <a:solidFill>
            <a:srgbClr val="FFFFFF"/>
          </a:solidFill>
          <a:ln w="6350">
            <a:solidFill>
              <a:srgbClr val="E2E5F0"/>
            </a:solidFill>
            <a:prstDash val="solid"/>
          </a:ln>
        </p:spPr>
      </p:sp>
      <p:sp>
        <p:nvSpPr>
          <p:cNvPr id="10" name="Text 8"/>
          <p:cNvSpPr/>
          <p:nvPr/>
        </p:nvSpPr>
        <p:spPr>
          <a:xfrm>
            <a:off x="3164840" y="2087882"/>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4F46E5"/>
                </a:solidFill>
                <a:latin typeface="DM Sans" pitchFamily="34" charset="0"/>
                <a:ea typeface="DM Sans" pitchFamily="34" charset="-122"/>
                <a:cs typeface="DM Sans" pitchFamily="34" charset="-120"/>
              </a:rPr>
              <a:t>02</a:t>
            </a:r>
            <a:endParaRPr lang="en-US" sz="2400" dirty="0"/>
          </a:p>
        </p:txBody>
      </p:sp>
      <p:sp>
        <p:nvSpPr>
          <p:cNvPr id="11" name="Text 9"/>
          <p:cNvSpPr/>
          <p:nvPr/>
        </p:nvSpPr>
        <p:spPr>
          <a:xfrm>
            <a:off x="3164840" y="2616200"/>
            <a:ext cx="16256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Unanswered asks</a:t>
            </a:r>
            <a:endParaRPr lang="en-US" sz="1600" dirty="0"/>
          </a:p>
        </p:txBody>
      </p:sp>
      <p:sp>
        <p:nvSpPr>
          <p:cNvPr id="12" name="Text 10"/>
          <p:cNvSpPr/>
          <p:nvPr/>
        </p:nvSpPr>
        <p:spPr>
          <a:xfrm>
            <a:off x="3164840" y="3205482"/>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The client asked a direct question. Nobody replied.</a:t>
            </a:r>
            <a:endParaRPr lang="en-US" sz="1300" dirty="0"/>
          </a:p>
        </p:txBody>
      </p:sp>
      <p:sp>
        <p:nvSpPr>
          <p:cNvPr id="13" name="Text 11"/>
          <p:cNvSpPr/>
          <p:nvPr/>
        </p:nvSpPr>
        <p:spPr>
          <a:xfrm>
            <a:off x="3164840" y="4000500"/>
            <a:ext cx="16256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FinEdge $95k · Meridian $45k</a:t>
            </a:r>
            <a:endParaRPr lang="en-US" sz="1200" dirty="0"/>
          </a:p>
        </p:txBody>
      </p:sp>
      <p:sp>
        <p:nvSpPr>
          <p:cNvPr id="14" name="Shape 12"/>
          <p:cNvSpPr/>
          <p:nvPr/>
        </p:nvSpPr>
        <p:spPr>
          <a:xfrm>
            <a:off x="5103495" y="1882775"/>
            <a:ext cx="1985010" cy="3384550"/>
          </a:xfrm>
          <a:prstGeom prst="roundRect">
            <a:avLst>
              <a:gd name="adj" fmla="val 6238"/>
            </a:avLst>
          </a:prstGeom>
          <a:solidFill>
            <a:srgbClr val="FFFFFF"/>
          </a:solidFill>
          <a:ln w="6350">
            <a:solidFill>
              <a:srgbClr val="E2E5F0"/>
            </a:solidFill>
            <a:prstDash val="solid"/>
          </a:ln>
        </p:spPr>
      </p:sp>
      <p:sp>
        <p:nvSpPr>
          <p:cNvPr id="15" name="Text 13"/>
          <p:cNvSpPr/>
          <p:nvPr/>
        </p:nvSpPr>
        <p:spPr>
          <a:xfrm>
            <a:off x="5308600" y="2087882"/>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4F46E5"/>
                </a:solidFill>
                <a:latin typeface="DM Sans" pitchFamily="34" charset="0"/>
                <a:ea typeface="DM Sans" pitchFamily="34" charset="-122"/>
                <a:cs typeface="DM Sans" pitchFamily="34" charset="-120"/>
              </a:rPr>
              <a:t>03</a:t>
            </a:r>
            <a:endParaRPr lang="en-US" sz="2400" dirty="0"/>
          </a:p>
        </p:txBody>
      </p:sp>
      <p:sp>
        <p:nvSpPr>
          <p:cNvPr id="16" name="Text 14"/>
          <p:cNvSpPr/>
          <p:nvPr/>
        </p:nvSpPr>
        <p:spPr>
          <a:xfrm>
            <a:off x="5308600" y="2616200"/>
            <a:ext cx="16256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Buried deadlines</a:t>
            </a:r>
            <a:endParaRPr lang="en-US" sz="1600" dirty="0"/>
          </a:p>
        </p:txBody>
      </p:sp>
      <p:sp>
        <p:nvSpPr>
          <p:cNvPr id="17" name="Text 15"/>
          <p:cNvSpPr/>
          <p:nvPr/>
        </p:nvSpPr>
        <p:spPr>
          <a:xfrm>
            <a:off x="5308600" y="3205482"/>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"By the 15th" sits inside paragraph four of an email.</a:t>
            </a:r>
            <a:endParaRPr lang="en-US" sz="1300" dirty="0"/>
          </a:p>
        </p:txBody>
      </p:sp>
      <p:sp>
        <p:nvSpPr>
          <p:cNvPr id="18" name="Text 16"/>
          <p:cNvSpPr/>
          <p:nvPr/>
        </p:nvSpPr>
        <p:spPr>
          <a:xfrm>
            <a:off x="5308600" y="4000500"/>
            <a:ext cx="16256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ShopSwift 15 Jul · HealthFirst 14 Jul · NovaPharma 24 Jul</a:t>
            </a:r>
            <a:endParaRPr lang="en-US" sz="1200" dirty="0"/>
          </a:p>
        </p:txBody>
      </p:sp>
      <p:sp>
        <p:nvSpPr>
          <p:cNvPr id="19" name="Shape 17"/>
          <p:cNvSpPr/>
          <p:nvPr/>
        </p:nvSpPr>
        <p:spPr>
          <a:xfrm>
            <a:off x="7247255" y="1882775"/>
            <a:ext cx="1985010" cy="3384550"/>
          </a:xfrm>
          <a:prstGeom prst="roundRect">
            <a:avLst>
              <a:gd name="adj" fmla="val 6238"/>
            </a:avLst>
          </a:prstGeom>
          <a:solidFill>
            <a:srgbClr val="FFFFFF"/>
          </a:solidFill>
          <a:ln w="6350">
            <a:solidFill>
              <a:srgbClr val="E2E5F0"/>
            </a:solidFill>
            <a:prstDash val="solid"/>
          </a:ln>
        </p:spPr>
      </p:sp>
      <p:sp>
        <p:nvSpPr>
          <p:cNvPr id="20" name="Text 18"/>
          <p:cNvSpPr/>
          <p:nvPr/>
        </p:nvSpPr>
        <p:spPr>
          <a:xfrm>
            <a:off x="7452360" y="2087882"/>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45309"/>
                </a:solidFill>
                <a:latin typeface="DM Sans" pitchFamily="34" charset="0"/>
                <a:ea typeface="DM Sans" pitchFamily="34" charset="-122"/>
                <a:cs typeface="DM Sans" pitchFamily="34" charset="-120"/>
              </a:rPr>
              <a:t>04</a:t>
            </a:r>
            <a:endParaRPr lang="en-US" sz="2400" dirty="0"/>
          </a:p>
        </p:txBody>
      </p:sp>
      <p:sp>
        <p:nvSpPr>
          <p:cNvPr id="21" name="Text 19"/>
          <p:cNvSpPr/>
          <p:nvPr/>
        </p:nvSpPr>
        <p:spPr>
          <a:xfrm>
            <a:off x="7452360" y="2616200"/>
            <a:ext cx="16256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Lost deals that came back</a:t>
            </a:r>
            <a:endParaRPr lang="en-US" sz="1600" dirty="0"/>
          </a:p>
        </p:txBody>
      </p:sp>
      <p:sp>
        <p:nvSpPr>
          <p:cNvPr id="22" name="Text 20"/>
          <p:cNvSpPr/>
          <p:nvPr/>
        </p:nvSpPr>
        <p:spPr>
          <a:xfrm>
            <a:off x="7452360" y="3205482"/>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"Revisit in Q3" — marked Lost, never revisited.</a:t>
            </a:r>
            <a:endParaRPr lang="en-US" sz="1300" dirty="0"/>
          </a:p>
        </p:txBody>
      </p:sp>
      <p:sp>
        <p:nvSpPr>
          <p:cNvPr id="23" name="Text 21"/>
          <p:cNvSpPr/>
          <p:nvPr/>
        </p:nvSpPr>
        <p:spPr>
          <a:xfrm>
            <a:off x="7452360" y="4000500"/>
            <a:ext cx="16256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Quantia · ClearPath · Kaveri</a:t>
            </a:r>
            <a:endParaRPr lang="en-US" sz="1200" dirty="0"/>
          </a:p>
        </p:txBody>
      </p:sp>
      <p:sp>
        <p:nvSpPr>
          <p:cNvPr id="24" name="Shape 22"/>
          <p:cNvSpPr/>
          <p:nvPr/>
        </p:nvSpPr>
        <p:spPr>
          <a:xfrm>
            <a:off x="9391015" y="1882775"/>
            <a:ext cx="1985010" cy="3384550"/>
          </a:xfrm>
          <a:prstGeom prst="roundRect">
            <a:avLst>
              <a:gd name="adj" fmla="val 6238"/>
            </a:avLst>
          </a:prstGeom>
          <a:solidFill>
            <a:srgbClr val="FFFFFF"/>
          </a:solidFill>
          <a:ln w="6350">
            <a:solidFill>
              <a:srgbClr val="E2E5F0"/>
            </a:solidFill>
            <a:prstDash val="solid"/>
          </a:ln>
        </p:spPr>
      </p:sp>
      <p:sp>
        <p:nvSpPr>
          <p:cNvPr id="25" name="Text 23"/>
          <p:cNvSpPr/>
          <p:nvPr/>
        </p:nvSpPr>
        <p:spPr>
          <a:xfrm>
            <a:off x="9596120" y="2087882"/>
            <a:ext cx="16256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45309"/>
                </a:solidFill>
                <a:latin typeface="DM Sans" pitchFamily="34" charset="0"/>
                <a:ea typeface="DM Sans" pitchFamily="34" charset="-122"/>
                <a:cs typeface="DM Sans" pitchFamily="34" charset="-120"/>
              </a:rPr>
              <a:t>05</a:t>
            </a:r>
            <a:endParaRPr lang="en-US" sz="2400" dirty="0"/>
          </a:p>
        </p:txBody>
      </p:sp>
      <p:sp>
        <p:nvSpPr>
          <p:cNvPr id="26" name="Text 24"/>
          <p:cNvSpPr/>
          <p:nvPr/>
        </p:nvSpPr>
        <p:spPr>
          <a:xfrm>
            <a:off x="9596120" y="2616200"/>
            <a:ext cx="16256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Missing leads &amp; duplicates</a:t>
            </a:r>
            <a:endParaRPr lang="en-US" sz="1600" dirty="0"/>
          </a:p>
        </p:txBody>
      </p:sp>
      <p:sp>
        <p:nvSpPr>
          <p:cNvPr id="27" name="Text 25"/>
          <p:cNvSpPr/>
          <p:nvPr/>
        </p:nvSpPr>
        <p:spPr>
          <a:xfrm>
            <a:off x="9596120" y="3205482"/>
            <a:ext cx="162560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5 leads only in inboxes; Meridian entered twice.</a:t>
            </a:r>
            <a:endParaRPr lang="en-US" sz="1300" dirty="0"/>
          </a:p>
        </p:txBody>
      </p:sp>
      <p:sp>
        <p:nvSpPr>
          <p:cNvPr id="28" name="Text 26"/>
          <p:cNvSpPr/>
          <p:nvPr/>
        </p:nvSpPr>
        <p:spPr>
          <a:xfrm>
            <a:off x="9596120" y="4000500"/>
            <a:ext cx="17767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5 missing · 1 duplicate</a:t>
            </a:r>
            <a:endParaRPr lang="en-US" sz="1200" dirty="0"/>
          </a:p>
        </p:txBody>
      </p:sp>
      <p:sp>
        <p:nvSpPr>
          <p:cNvPr id="29" name="Text 27"/>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1A33"/>
                </a:solidFill>
                <a:latin typeface="DM Sans" pitchFamily="34" charset="0"/>
                <a:ea typeface="DM Sans" pitchFamily="34" charset="-122"/>
                <a:cs typeface="DM Sans" pitchFamily="34" charset="-120"/>
              </a:rPr>
              <a:t>Every pattern is a </a:t>
            </a:r>
            <a:r>
              <a:rPr lang="en-US" sz="1500" b="1" dirty="0">
                <a:solidFill>
                  <a:srgbClr val="141A33"/>
                </a:solidFill>
                <a:latin typeface="DM Sans" pitchFamily="34" charset="0"/>
                <a:ea typeface="DM Sans" pitchFamily="34" charset="-122"/>
                <a:cs typeface="DM Sans" pitchFamily="34" charset="-120"/>
              </a:rPr>
              <a:t>signal hidden in text</a:t>
            </a:r>
            <a:r>
              <a:rPr lang="en-US" sz="1500" dirty="0">
                <a:solidFill>
                  <a:srgbClr val="141A33"/>
                </a:solidFill>
                <a:latin typeface="DM Sans" pitchFamily="34" charset="0"/>
                <a:ea typeface="DM Sans" pitchFamily="34" charset="-122"/>
                <a:cs typeface="DM Sans" pitchFamily="34" charset="-120"/>
              </a:rPr>
              <a:t> — exactly what a language model can read, and a rule-based CRM can't.</a:t>
            </a:r>
            <a:endParaRPr lang="en-US" sz="1500" dirty="0"/>
          </a:p>
        </p:txBody>
      </p:sp>
      <p:sp>
        <p:nvSpPr>
          <p:cNvPr id="30" name="Text 2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05 · These patterns became the eval answer key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THE OPPORTUNITY · PROCESS MAPPING</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10 steps, 5 pain points, where AI fits</a:t>
            </a:r>
            <a:endParaRPr lang="en-US" sz="3200" dirty="0"/>
          </a:p>
        </p:txBody>
      </p:sp>
      <p:sp>
        <p:nvSpPr>
          <p:cNvPr id="4" name="Text 2"/>
          <p:cNvSpPr/>
          <p:nvPr/>
        </p:nvSpPr>
        <p:spPr>
          <a:xfrm>
            <a:off x="812800" y="1828800"/>
            <a:ext cx="952500" cy="965200"/>
          </a:xfrm>
          <a:prstGeom prst="roundRect">
            <a:avLst>
              <a:gd name="adj" fmla="val 9333"/>
            </a:avLst>
          </a:prstGeom>
          <a:solidFill>
            <a:srgbClr val="141A33"/>
          </a:solidFill>
          <a:ln/>
        </p:spPr>
        <p:txBody>
          <a:bodyPr wrap="square" lIns="75562" tIns="62862" rIns="24762" bIns="62862" rtlCol="0" anchor="ctr">
            <a:normAutofit/>
          </a:bodyPr>
          <a:lstStyle/>
          <a:p>
            <a:pPr algn="l" indent="0" marL="0">
              <a:lnSpc>
                <a:spcPts val="1500"/>
              </a:lnSpc>
              <a:buNone/>
            </a:pPr>
            <a:r>
              <a:rPr lang="en-US" sz="1200" b="1" dirty="0">
                <a:solidFill>
                  <a:srgbClr val="F6F7FB"/>
                </a:solidFill>
                <a:latin typeface="DM Sans" pitchFamily="34" charset="0"/>
                <a:ea typeface="DM Sans" pitchFamily="34" charset="-122"/>
                <a:cs typeface="DM Sans" pitchFamily="34" charset="-120"/>
              </a:rPr>
              <a:t>Input</a:t>
            </a:r>
            <a:endParaRPr lang="en-US" sz="1200" dirty="0"/>
          </a:p>
          <a:p>
            <a:pPr algn="l" indent="0" marL="0">
              <a:lnSpc>
                <a:spcPts val="1500"/>
              </a:lnSpc>
              <a:buNone/>
            </a:pPr>
            <a:r>
              <a:rPr lang="en-US" sz="1200" dirty="0">
                <a:solidFill>
                  <a:srgbClr val="F6F7FB"/>
                </a:solidFill>
                <a:latin typeface="DM Sans" pitchFamily="34" charset="0"/>
                <a:ea typeface="DM Sans" pitchFamily="34" charset="-122"/>
                <a:cs typeface="DM Sans" pitchFamily="34" charset="-120"/>
              </a:rPr>
              <a:t>New opportunity</a:t>
            </a:r>
            <a:endParaRPr lang="en-US" sz="1200" dirty="0"/>
          </a:p>
        </p:txBody>
      </p:sp>
      <p:sp>
        <p:nvSpPr>
          <p:cNvPr id="5" name="Shape 3"/>
          <p:cNvSpPr/>
          <p:nvPr/>
        </p:nvSpPr>
        <p:spPr>
          <a:xfrm>
            <a:off x="1844675" y="1831975"/>
            <a:ext cx="753110" cy="958850"/>
          </a:xfrm>
          <a:prstGeom prst="roundRect">
            <a:avLst>
              <a:gd name="adj" fmla="val 11383"/>
            </a:avLst>
          </a:prstGeom>
          <a:solidFill>
            <a:srgbClr val="FFFFFF"/>
          </a:solidFill>
          <a:ln w="6350">
            <a:solidFill>
              <a:srgbClr val="E2E5F0"/>
            </a:solidFill>
            <a:prstDash val="solid"/>
          </a:ln>
        </p:spPr>
      </p:sp>
      <p:sp>
        <p:nvSpPr>
          <p:cNvPr id="6" name="Text 4"/>
          <p:cNvSpPr/>
          <p:nvPr/>
        </p:nvSpPr>
        <p:spPr>
          <a:xfrm>
            <a:off x="1935480" y="1922782"/>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DM Sans" pitchFamily="34" charset="0"/>
                <a:ea typeface="DM Sans" pitchFamily="34" charset="-122"/>
                <a:cs typeface="DM Sans" pitchFamily="34" charset="-120"/>
              </a:rPr>
              <a:t>1</a:t>
            </a:r>
            <a:endParaRPr lang="en-US" sz="1200" dirty="0"/>
          </a:p>
        </p:txBody>
      </p:sp>
      <p:sp>
        <p:nvSpPr>
          <p:cNvPr id="7" name="Text 5"/>
          <p:cNvSpPr/>
          <p:nvPr/>
        </p:nvSpPr>
        <p:spPr>
          <a:xfrm>
            <a:off x="1935480" y="2174239"/>
            <a:ext cx="6223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Receive</a:t>
            </a:r>
            <a:endParaRPr lang="en-US" sz="1200" dirty="0"/>
          </a:p>
        </p:txBody>
      </p:sp>
      <p:sp>
        <p:nvSpPr>
          <p:cNvPr id="8" name="Shape 6"/>
          <p:cNvSpPr/>
          <p:nvPr/>
        </p:nvSpPr>
        <p:spPr>
          <a:xfrm>
            <a:off x="2686685" y="1838325"/>
            <a:ext cx="760730" cy="946150"/>
          </a:xfrm>
          <a:prstGeom prst="roundRect">
            <a:avLst>
              <a:gd name="adj" fmla="val 10434"/>
            </a:avLst>
          </a:prstGeom>
          <a:solidFill>
            <a:srgbClr val="EEF0F8"/>
          </a:solidFill>
          <a:ln w="19050">
            <a:solidFill>
              <a:srgbClr val="4F46E5"/>
            </a:solidFill>
            <a:prstDash val="solid"/>
          </a:ln>
        </p:spPr>
      </p:sp>
      <p:sp>
        <p:nvSpPr>
          <p:cNvPr id="9" name="Text 7"/>
          <p:cNvSpPr/>
          <p:nvPr/>
        </p:nvSpPr>
        <p:spPr>
          <a:xfrm>
            <a:off x="2781300" y="1932939"/>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DM Sans" pitchFamily="34" charset="0"/>
                <a:ea typeface="DM Sans" pitchFamily="34" charset="-122"/>
                <a:cs typeface="DM Sans" pitchFamily="34" charset="-120"/>
              </a:rPr>
              <a:t>2</a:t>
            </a:r>
            <a:endParaRPr lang="en-US" sz="1200" dirty="0"/>
          </a:p>
        </p:txBody>
      </p:sp>
      <p:sp>
        <p:nvSpPr>
          <p:cNvPr id="10" name="Text 8"/>
          <p:cNvSpPr/>
          <p:nvPr/>
        </p:nvSpPr>
        <p:spPr>
          <a:xfrm>
            <a:off x="2781300" y="2184400"/>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Log lead</a:t>
            </a:r>
            <a:endParaRPr lang="en-US" sz="1200" dirty="0"/>
          </a:p>
        </p:txBody>
      </p:sp>
      <p:sp>
        <p:nvSpPr>
          <p:cNvPr id="11" name="Shape 9"/>
          <p:cNvSpPr/>
          <p:nvPr/>
        </p:nvSpPr>
        <p:spPr>
          <a:xfrm>
            <a:off x="3536315" y="1831975"/>
            <a:ext cx="753110" cy="958850"/>
          </a:xfrm>
          <a:prstGeom prst="roundRect">
            <a:avLst>
              <a:gd name="adj" fmla="val 11383"/>
            </a:avLst>
          </a:prstGeom>
          <a:solidFill>
            <a:srgbClr val="FFFFFF"/>
          </a:solidFill>
          <a:ln w="6350">
            <a:solidFill>
              <a:srgbClr val="E2E5F0"/>
            </a:solidFill>
            <a:prstDash val="solid"/>
          </a:ln>
        </p:spPr>
      </p:sp>
      <p:sp>
        <p:nvSpPr>
          <p:cNvPr id="12" name="Text 10"/>
          <p:cNvSpPr/>
          <p:nvPr/>
        </p:nvSpPr>
        <p:spPr>
          <a:xfrm>
            <a:off x="3627120" y="1922782"/>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DM Sans" pitchFamily="34" charset="0"/>
                <a:ea typeface="DM Sans" pitchFamily="34" charset="-122"/>
                <a:cs typeface="DM Sans" pitchFamily="34" charset="-120"/>
              </a:rPr>
              <a:t>3</a:t>
            </a:r>
            <a:endParaRPr lang="en-US" sz="1200" dirty="0"/>
          </a:p>
        </p:txBody>
      </p:sp>
      <p:sp>
        <p:nvSpPr>
          <p:cNvPr id="13" name="Text 11"/>
          <p:cNvSpPr/>
          <p:nvPr/>
        </p:nvSpPr>
        <p:spPr>
          <a:xfrm>
            <a:off x="3627120" y="2174239"/>
            <a:ext cx="6223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Qualify</a:t>
            </a:r>
            <a:endParaRPr lang="en-US" sz="1200" dirty="0"/>
          </a:p>
        </p:txBody>
      </p:sp>
      <p:sp>
        <p:nvSpPr>
          <p:cNvPr id="14" name="Shape 12"/>
          <p:cNvSpPr/>
          <p:nvPr/>
        </p:nvSpPr>
        <p:spPr>
          <a:xfrm>
            <a:off x="4371975" y="1831975"/>
            <a:ext cx="753110" cy="958850"/>
          </a:xfrm>
          <a:prstGeom prst="roundRect">
            <a:avLst>
              <a:gd name="adj" fmla="val 11383"/>
            </a:avLst>
          </a:prstGeom>
          <a:solidFill>
            <a:srgbClr val="FFFFFF"/>
          </a:solidFill>
          <a:ln w="6350">
            <a:solidFill>
              <a:srgbClr val="E2E5F0"/>
            </a:solidFill>
            <a:prstDash val="solid"/>
          </a:ln>
        </p:spPr>
      </p:sp>
      <p:sp>
        <p:nvSpPr>
          <p:cNvPr id="15" name="Text 13"/>
          <p:cNvSpPr/>
          <p:nvPr/>
        </p:nvSpPr>
        <p:spPr>
          <a:xfrm>
            <a:off x="4462780" y="1922782"/>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DM Sans" pitchFamily="34" charset="0"/>
                <a:ea typeface="DM Sans" pitchFamily="34" charset="-122"/>
                <a:cs typeface="DM Sans" pitchFamily="34" charset="-120"/>
              </a:rPr>
              <a:t>4</a:t>
            </a:r>
            <a:endParaRPr lang="en-US" sz="1200" dirty="0"/>
          </a:p>
        </p:txBody>
      </p:sp>
      <p:sp>
        <p:nvSpPr>
          <p:cNvPr id="16" name="Text 14"/>
          <p:cNvSpPr/>
          <p:nvPr/>
        </p:nvSpPr>
        <p:spPr>
          <a:xfrm>
            <a:off x="4462780" y="2174239"/>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Discovery</a:t>
            </a:r>
            <a:endParaRPr lang="en-US" sz="1200" dirty="0"/>
          </a:p>
        </p:txBody>
      </p:sp>
      <p:sp>
        <p:nvSpPr>
          <p:cNvPr id="17" name="Shape 15"/>
          <p:cNvSpPr/>
          <p:nvPr/>
        </p:nvSpPr>
        <p:spPr>
          <a:xfrm>
            <a:off x="5207635" y="1831975"/>
            <a:ext cx="753110" cy="958850"/>
          </a:xfrm>
          <a:prstGeom prst="roundRect">
            <a:avLst>
              <a:gd name="adj" fmla="val 11383"/>
            </a:avLst>
          </a:prstGeom>
          <a:solidFill>
            <a:srgbClr val="FFFFFF"/>
          </a:solidFill>
          <a:ln w="6350">
            <a:solidFill>
              <a:srgbClr val="E2E5F0"/>
            </a:solidFill>
            <a:prstDash val="solid"/>
          </a:ln>
        </p:spPr>
      </p:sp>
      <p:sp>
        <p:nvSpPr>
          <p:cNvPr id="18" name="Text 16"/>
          <p:cNvSpPr/>
          <p:nvPr/>
        </p:nvSpPr>
        <p:spPr>
          <a:xfrm>
            <a:off x="5298440" y="1922782"/>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DM Sans" pitchFamily="34" charset="0"/>
                <a:ea typeface="DM Sans" pitchFamily="34" charset="-122"/>
                <a:cs typeface="DM Sans" pitchFamily="34" charset="-120"/>
              </a:rPr>
              <a:t>5</a:t>
            </a:r>
            <a:endParaRPr lang="en-US" sz="1200" dirty="0"/>
          </a:p>
        </p:txBody>
      </p:sp>
      <p:sp>
        <p:nvSpPr>
          <p:cNvPr id="19" name="Text 17"/>
          <p:cNvSpPr/>
          <p:nvPr/>
        </p:nvSpPr>
        <p:spPr>
          <a:xfrm>
            <a:off x="5298440" y="2174239"/>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Proposal</a:t>
            </a:r>
            <a:endParaRPr lang="en-US" sz="1200" dirty="0"/>
          </a:p>
        </p:txBody>
      </p:sp>
      <p:sp>
        <p:nvSpPr>
          <p:cNvPr id="20" name="Shape 18"/>
          <p:cNvSpPr/>
          <p:nvPr/>
        </p:nvSpPr>
        <p:spPr>
          <a:xfrm>
            <a:off x="6049645" y="1838325"/>
            <a:ext cx="760730" cy="946150"/>
          </a:xfrm>
          <a:prstGeom prst="roundRect">
            <a:avLst>
              <a:gd name="adj" fmla="val 10434"/>
            </a:avLst>
          </a:prstGeom>
          <a:solidFill>
            <a:srgbClr val="EEF0F8"/>
          </a:solidFill>
          <a:ln w="19050">
            <a:solidFill>
              <a:srgbClr val="4F46E5"/>
            </a:solidFill>
            <a:prstDash val="solid"/>
          </a:ln>
        </p:spPr>
      </p:sp>
      <p:sp>
        <p:nvSpPr>
          <p:cNvPr id="21" name="Text 19"/>
          <p:cNvSpPr/>
          <p:nvPr/>
        </p:nvSpPr>
        <p:spPr>
          <a:xfrm>
            <a:off x="6144260" y="1932939"/>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DM Sans" pitchFamily="34" charset="0"/>
                <a:ea typeface="DM Sans" pitchFamily="34" charset="-122"/>
                <a:cs typeface="DM Sans" pitchFamily="34" charset="-120"/>
              </a:rPr>
              <a:t>6</a:t>
            </a:r>
            <a:endParaRPr lang="en-US" sz="1200" dirty="0"/>
          </a:p>
        </p:txBody>
      </p:sp>
      <p:sp>
        <p:nvSpPr>
          <p:cNvPr id="22" name="Text 20"/>
          <p:cNvSpPr/>
          <p:nvPr/>
        </p:nvSpPr>
        <p:spPr>
          <a:xfrm>
            <a:off x="6144260" y="2184400"/>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Meetings</a:t>
            </a:r>
            <a:endParaRPr lang="en-US" sz="1200" dirty="0"/>
          </a:p>
        </p:txBody>
      </p:sp>
      <p:sp>
        <p:nvSpPr>
          <p:cNvPr id="23" name="Shape 21"/>
          <p:cNvSpPr/>
          <p:nvPr/>
        </p:nvSpPr>
        <p:spPr>
          <a:xfrm>
            <a:off x="6905625" y="1838325"/>
            <a:ext cx="760730" cy="946150"/>
          </a:xfrm>
          <a:prstGeom prst="roundRect">
            <a:avLst>
              <a:gd name="adj" fmla="val 10434"/>
            </a:avLst>
          </a:prstGeom>
          <a:solidFill>
            <a:srgbClr val="EEF0F8"/>
          </a:solidFill>
          <a:ln w="19050">
            <a:solidFill>
              <a:srgbClr val="4F46E5"/>
            </a:solidFill>
            <a:prstDash val="solid"/>
          </a:ln>
        </p:spPr>
      </p:sp>
      <p:sp>
        <p:nvSpPr>
          <p:cNvPr id="24" name="Text 22"/>
          <p:cNvSpPr/>
          <p:nvPr/>
        </p:nvSpPr>
        <p:spPr>
          <a:xfrm>
            <a:off x="7000240" y="1932939"/>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DM Sans" pitchFamily="34" charset="0"/>
                <a:ea typeface="DM Sans" pitchFamily="34" charset="-122"/>
                <a:cs typeface="DM Sans" pitchFamily="34" charset="-120"/>
              </a:rPr>
              <a:t>7</a:t>
            </a:r>
            <a:endParaRPr lang="en-US" sz="1200" dirty="0"/>
          </a:p>
        </p:txBody>
      </p:sp>
      <p:sp>
        <p:nvSpPr>
          <p:cNvPr id="25" name="Text 23"/>
          <p:cNvSpPr/>
          <p:nvPr/>
        </p:nvSpPr>
        <p:spPr>
          <a:xfrm>
            <a:off x="7000240" y="2184400"/>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Follow up</a:t>
            </a:r>
            <a:endParaRPr lang="en-US" sz="1200" dirty="0"/>
          </a:p>
        </p:txBody>
      </p:sp>
      <p:sp>
        <p:nvSpPr>
          <p:cNvPr id="26" name="Shape 24"/>
          <p:cNvSpPr/>
          <p:nvPr/>
        </p:nvSpPr>
        <p:spPr>
          <a:xfrm>
            <a:off x="7755255" y="1831975"/>
            <a:ext cx="753110" cy="958850"/>
          </a:xfrm>
          <a:prstGeom prst="roundRect">
            <a:avLst>
              <a:gd name="adj" fmla="val 11383"/>
            </a:avLst>
          </a:prstGeom>
          <a:solidFill>
            <a:srgbClr val="FFFFFF"/>
          </a:solidFill>
          <a:ln w="6350">
            <a:solidFill>
              <a:srgbClr val="E2E5F0"/>
            </a:solidFill>
            <a:prstDash val="solid"/>
          </a:ln>
        </p:spPr>
      </p:sp>
      <p:sp>
        <p:nvSpPr>
          <p:cNvPr id="27" name="Text 25"/>
          <p:cNvSpPr/>
          <p:nvPr/>
        </p:nvSpPr>
        <p:spPr>
          <a:xfrm>
            <a:off x="7846060" y="1922782"/>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B7280"/>
                </a:solidFill>
                <a:latin typeface="DM Sans" pitchFamily="34" charset="0"/>
                <a:ea typeface="DM Sans" pitchFamily="34" charset="-122"/>
                <a:cs typeface="DM Sans" pitchFamily="34" charset="-120"/>
              </a:rPr>
              <a:t>8</a:t>
            </a:r>
            <a:endParaRPr lang="en-US" sz="1200" dirty="0"/>
          </a:p>
        </p:txBody>
      </p:sp>
      <p:sp>
        <p:nvSpPr>
          <p:cNvPr id="28" name="Text 26"/>
          <p:cNvSpPr/>
          <p:nvPr/>
        </p:nvSpPr>
        <p:spPr>
          <a:xfrm>
            <a:off x="7846060" y="2174239"/>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Negotiate</a:t>
            </a:r>
            <a:endParaRPr lang="en-US" sz="1200" dirty="0"/>
          </a:p>
        </p:txBody>
      </p:sp>
      <p:sp>
        <p:nvSpPr>
          <p:cNvPr id="29" name="Shape 27"/>
          <p:cNvSpPr/>
          <p:nvPr/>
        </p:nvSpPr>
        <p:spPr>
          <a:xfrm>
            <a:off x="8597265" y="1838325"/>
            <a:ext cx="760730" cy="946150"/>
          </a:xfrm>
          <a:prstGeom prst="roundRect">
            <a:avLst>
              <a:gd name="adj" fmla="val 10434"/>
            </a:avLst>
          </a:prstGeom>
          <a:solidFill>
            <a:srgbClr val="EEF0F8"/>
          </a:solidFill>
          <a:ln w="19050">
            <a:solidFill>
              <a:srgbClr val="4F46E5"/>
            </a:solidFill>
            <a:prstDash val="solid"/>
          </a:ln>
        </p:spPr>
      </p:sp>
      <p:sp>
        <p:nvSpPr>
          <p:cNvPr id="30" name="Text 28"/>
          <p:cNvSpPr/>
          <p:nvPr/>
        </p:nvSpPr>
        <p:spPr>
          <a:xfrm>
            <a:off x="8691880" y="1932939"/>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DM Sans" pitchFamily="34" charset="0"/>
                <a:ea typeface="DM Sans" pitchFamily="34" charset="-122"/>
                <a:cs typeface="DM Sans" pitchFamily="34" charset="-120"/>
              </a:rPr>
              <a:t>9</a:t>
            </a:r>
            <a:endParaRPr lang="en-US" sz="1200" dirty="0"/>
          </a:p>
        </p:txBody>
      </p:sp>
      <p:sp>
        <p:nvSpPr>
          <p:cNvPr id="31" name="Text 29"/>
          <p:cNvSpPr/>
          <p:nvPr/>
        </p:nvSpPr>
        <p:spPr>
          <a:xfrm>
            <a:off x="8691880" y="2184400"/>
            <a:ext cx="622300" cy="3911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Close / lost</a:t>
            </a:r>
            <a:endParaRPr lang="en-US" sz="1200" dirty="0"/>
          </a:p>
        </p:txBody>
      </p:sp>
      <p:sp>
        <p:nvSpPr>
          <p:cNvPr id="32" name="Shape 30"/>
          <p:cNvSpPr/>
          <p:nvPr/>
        </p:nvSpPr>
        <p:spPr>
          <a:xfrm>
            <a:off x="9453245" y="1838325"/>
            <a:ext cx="760730" cy="946150"/>
          </a:xfrm>
          <a:prstGeom prst="roundRect">
            <a:avLst>
              <a:gd name="adj" fmla="val 10434"/>
            </a:avLst>
          </a:prstGeom>
          <a:solidFill>
            <a:srgbClr val="EEF0F8"/>
          </a:solidFill>
          <a:ln w="19050">
            <a:solidFill>
              <a:srgbClr val="4F46E5"/>
            </a:solidFill>
            <a:prstDash val="solid"/>
          </a:ln>
        </p:spPr>
      </p:sp>
      <p:sp>
        <p:nvSpPr>
          <p:cNvPr id="33" name="Text 31"/>
          <p:cNvSpPr/>
          <p:nvPr/>
        </p:nvSpPr>
        <p:spPr>
          <a:xfrm>
            <a:off x="9547860" y="1932939"/>
            <a:ext cx="622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F46E5"/>
                </a:solidFill>
                <a:latin typeface="DM Sans" pitchFamily="34" charset="0"/>
                <a:ea typeface="DM Sans" pitchFamily="34" charset="-122"/>
                <a:cs typeface="DM Sans" pitchFamily="34" charset="-120"/>
              </a:rPr>
              <a:t>10</a:t>
            </a:r>
            <a:endParaRPr lang="en-US" sz="1200" dirty="0"/>
          </a:p>
        </p:txBody>
      </p:sp>
      <p:sp>
        <p:nvSpPr>
          <p:cNvPr id="34" name="Text 32"/>
          <p:cNvSpPr/>
          <p:nvPr/>
        </p:nvSpPr>
        <p:spPr>
          <a:xfrm>
            <a:off x="9547860" y="2184400"/>
            <a:ext cx="6223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3D4459"/>
                </a:solidFill>
                <a:latin typeface="DM Sans" pitchFamily="34" charset="0"/>
                <a:ea typeface="DM Sans" pitchFamily="34" charset="-122"/>
                <a:cs typeface="DM Sans" pitchFamily="34" charset="-120"/>
              </a:rPr>
              <a:t>Grow</a:t>
            </a:r>
            <a:endParaRPr lang="en-US" sz="1200" dirty="0"/>
          </a:p>
        </p:txBody>
      </p:sp>
      <p:sp>
        <p:nvSpPr>
          <p:cNvPr id="35" name="Text 33"/>
          <p:cNvSpPr/>
          <p:nvPr/>
        </p:nvSpPr>
        <p:spPr>
          <a:xfrm>
            <a:off x="10299700" y="1828800"/>
            <a:ext cx="1079500" cy="965200"/>
          </a:xfrm>
          <a:prstGeom prst="roundRect">
            <a:avLst>
              <a:gd name="adj" fmla="val 9211"/>
            </a:avLst>
          </a:prstGeom>
          <a:solidFill>
            <a:srgbClr val="141A33"/>
          </a:solidFill>
          <a:ln/>
        </p:spPr>
        <p:txBody>
          <a:bodyPr wrap="square" lIns="75562" tIns="75562" rIns="24762" bIns="75562" rtlCol="0" anchor="ctr">
            <a:normAutofit/>
          </a:bodyPr>
          <a:lstStyle/>
          <a:p>
            <a:pPr algn="l" indent="0" marL="0">
              <a:lnSpc>
                <a:spcPts val="1500"/>
              </a:lnSpc>
              <a:buNone/>
            </a:pPr>
            <a:r>
              <a:rPr lang="en-US" sz="1200" b="1" dirty="0">
                <a:solidFill>
                  <a:srgbClr val="F6F7FB"/>
                </a:solidFill>
                <a:latin typeface="DM Sans" pitchFamily="34" charset="0"/>
                <a:ea typeface="DM Sans" pitchFamily="34" charset="-122"/>
                <a:cs typeface="DM Sans" pitchFamily="34" charset="-120"/>
              </a:rPr>
              <a:t>Output</a:t>
            </a:r>
            <a:endParaRPr lang="en-US" sz="1200" dirty="0"/>
          </a:p>
          <a:p>
            <a:pPr algn="l" indent="0" marL="0">
              <a:lnSpc>
                <a:spcPts val="1500"/>
              </a:lnSpc>
              <a:buNone/>
            </a:pPr>
            <a:r>
              <a:rPr lang="en-US" sz="1200" dirty="0">
                <a:solidFill>
                  <a:srgbClr val="F6F7FB"/>
                </a:solidFill>
                <a:latin typeface="DM Sans" pitchFamily="34" charset="0"/>
                <a:ea typeface="DM Sans" pitchFamily="34" charset="-122"/>
                <a:cs typeface="DM Sans" pitchFamily="34" charset="-120"/>
              </a:rPr>
              <a:t>Revenue &amp; growth</a:t>
            </a:r>
            <a:endParaRPr lang="en-US" sz="1200" dirty="0"/>
          </a:p>
        </p:txBody>
      </p:sp>
      <p:sp>
        <p:nvSpPr>
          <p:cNvPr id="36" name="Shape 34"/>
          <p:cNvSpPr/>
          <p:nvPr/>
        </p:nvSpPr>
        <p:spPr>
          <a:xfrm>
            <a:off x="815975" y="3051175"/>
            <a:ext cx="3431064" cy="1229360"/>
          </a:xfrm>
          <a:prstGeom prst="roundRect">
            <a:avLst>
              <a:gd name="adj" fmla="val 9039"/>
            </a:avLst>
          </a:prstGeom>
          <a:solidFill>
            <a:srgbClr val="FFFFFF"/>
          </a:solidFill>
          <a:ln w="6350">
            <a:solidFill>
              <a:srgbClr val="E2E5F0"/>
            </a:solidFill>
            <a:prstDash val="solid"/>
          </a:ln>
        </p:spPr>
      </p:sp>
      <p:sp>
        <p:nvSpPr>
          <p:cNvPr id="37" name="Text 35"/>
          <p:cNvSpPr/>
          <p:nvPr/>
        </p:nvSpPr>
        <p:spPr>
          <a:xfrm>
            <a:off x="995680" y="3205482"/>
            <a:ext cx="316380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2 · Log lead</a:t>
            </a:r>
            <a:endParaRPr lang="en-US" sz="1300" dirty="0"/>
          </a:p>
        </p:txBody>
      </p:sp>
      <p:sp>
        <p:nvSpPr>
          <p:cNvPr id="38" name="Text 36"/>
          <p:cNvSpPr/>
          <p:nvPr/>
        </p:nvSpPr>
        <p:spPr>
          <a:xfrm>
            <a:off x="995680" y="3487421"/>
            <a:ext cx="3163803"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F46E5"/>
                </a:solidFill>
                <a:latin typeface="DM Sans" pitchFamily="34" charset="0"/>
                <a:ea typeface="DM Sans" pitchFamily="34" charset="-122"/>
                <a:cs typeface="DM Sans" pitchFamily="34" charset="-120"/>
              </a:rPr>
              <a:t>Organizes + Connection</a:t>
            </a:r>
            <a:r>
              <a:rPr lang="en-US" sz="1200" dirty="0">
                <a:solidFill>
                  <a:srgbClr val="3D4459"/>
                </a:solidFill>
                <a:latin typeface="DM Sans" pitchFamily="34" charset="0"/>
                <a:ea typeface="DM Sans" pitchFamily="34" charset="-122"/>
                <a:cs typeface="DM Sans" pitchFamily="34" charset="-120"/>
              </a:rPr>
              <a:t> — capture from any note, flag duplicates</a:t>
            </a:r>
            <a:endParaRPr lang="en-US" sz="1200" dirty="0"/>
          </a:p>
        </p:txBody>
      </p:sp>
      <p:sp>
        <p:nvSpPr>
          <p:cNvPr id="39" name="Shape 37"/>
          <p:cNvSpPr/>
          <p:nvPr/>
        </p:nvSpPr>
        <p:spPr>
          <a:xfrm>
            <a:off x="4380389" y="3051175"/>
            <a:ext cx="3431143" cy="1229360"/>
          </a:xfrm>
          <a:prstGeom prst="roundRect">
            <a:avLst>
              <a:gd name="adj" fmla="val 9039"/>
            </a:avLst>
          </a:prstGeom>
          <a:solidFill>
            <a:srgbClr val="FFFFFF"/>
          </a:solidFill>
          <a:ln w="6350">
            <a:solidFill>
              <a:srgbClr val="E2E5F0"/>
            </a:solidFill>
            <a:prstDash val="solid"/>
          </a:ln>
        </p:spPr>
      </p:sp>
      <p:sp>
        <p:nvSpPr>
          <p:cNvPr id="40" name="Text 38"/>
          <p:cNvSpPr/>
          <p:nvPr/>
        </p:nvSpPr>
        <p:spPr>
          <a:xfrm>
            <a:off x="4560094" y="3205482"/>
            <a:ext cx="316388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6 · Meetings</a:t>
            </a:r>
            <a:endParaRPr lang="en-US" sz="1300" dirty="0"/>
          </a:p>
        </p:txBody>
      </p:sp>
      <p:sp>
        <p:nvSpPr>
          <p:cNvPr id="41" name="Text 39"/>
          <p:cNvSpPr/>
          <p:nvPr/>
        </p:nvSpPr>
        <p:spPr>
          <a:xfrm>
            <a:off x="4560094" y="3487421"/>
            <a:ext cx="316388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F46E5"/>
                </a:solidFill>
                <a:latin typeface="DM Sans" pitchFamily="34" charset="0"/>
                <a:ea typeface="DM Sans" pitchFamily="34" charset="-122"/>
                <a:cs typeface="DM Sans" pitchFamily="34" charset="-120"/>
              </a:rPr>
              <a:t>Finds + Writes</a:t>
            </a:r>
            <a:r>
              <a:rPr lang="en-US" sz="1200" dirty="0">
                <a:solidFill>
                  <a:srgbClr val="3D4459"/>
                </a:solidFill>
                <a:latin typeface="DM Sans" pitchFamily="34" charset="0"/>
                <a:ea typeface="DM Sans" pitchFamily="34" charset="-122"/>
                <a:cs typeface="DM Sans" pitchFamily="34" charset="-120"/>
              </a:rPr>
              <a:t> — minutes, promises and dates from the recording</a:t>
            </a:r>
            <a:endParaRPr lang="en-US" sz="1200" dirty="0"/>
          </a:p>
        </p:txBody>
      </p:sp>
      <p:sp>
        <p:nvSpPr>
          <p:cNvPr id="42" name="Shape 40"/>
          <p:cNvSpPr/>
          <p:nvPr/>
        </p:nvSpPr>
        <p:spPr>
          <a:xfrm>
            <a:off x="7944882" y="3051175"/>
            <a:ext cx="3431143" cy="1229360"/>
          </a:xfrm>
          <a:prstGeom prst="roundRect">
            <a:avLst>
              <a:gd name="adj" fmla="val 9039"/>
            </a:avLst>
          </a:prstGeom>
          <a:solidFill>
            <a:srgbClr val="FFFFFF"/>
          </a:solidFill>
          <a:ln w="6350">
            <a:solidFill>
              <a:srgbClr val="E2E5F0"/>
            </a:solidFill>
            <a:prstDash val="solid"/>
          </a:ln>
        </p:spPr>
      </p:sp>
      <p:sp>
        <p:nvSpPr>
          <p:cNvPr id="43" name="Text 41"/>
          <p:cNvSpPr/>
          <p:nvPr/>
        </p:nvSpPr>
        <p:spPr>
          <a:xfrm>
            <a:off x="8124587" y="3205482"/>
            <a:ext cx="316388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7 · Follow up</a:t>
            </a:r>
            <a:endParaRPr lang="en-US" sz="1300" dirty="0"/>
          </a:p>
        </p:txBody>
      </p:sp>
      <p:sp>
        <p:nvSpPr>
          <p:cNvPr id="44" name="Text 42"/>
          <p:cNvSpPr/>
          <p:nvPr/>
        </p:nvSpPr>
        <p:spPr>
          <a:xfrm>
            <a:off x="8124587" y="3487421"/>
            <a:ext cx="316388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F46E5"/>
                </a:solidFill>
                <a:latin typeface="DM Sans" pitchFamily="34" charset="0"/>
                <a:ea typeface="DM Sans" pitchFamily="34" charset="-122"/>
                <a:cs typeface="DM Sans" pitchFamily="34" charset="-120"/>
              </a:rPr>
              <a:t>Plans &amp; Recommends</a:t>
            </a:r>
            <a:r>
              <a:rPr lang="en-US" sz="1200" dirty="0">
                <a:solidFill>
                  <a:srgbClr val="3D4459"/>
                </a:solidFill>
                <a:latin typeface="DM Sans" pitchFamily="34" charset="0"/>
                <a:ea typeface="DM Sans" pitchFamily="34" charset="-122"/>
                <a:cs typeface="DM Sans" pitchFamily="34" charset="-120"/>
              </a:rPr>
              <a:t> — ranked next best actions, draft replies</a:t>
            </a:r>
            <a:endParaRPr lang="en-US" sz="1200" dirty="0"/>
          </a:p>
        </p:txBody>
      </p:sp>
      <p:sp>
        <p:nvSpPr>
          <p:cNvPr id="45" name="Shape 43"/>
          <p:cNvSpPr/>
          <p:nvPr/>
        </p:nvSpPr>
        <p:spPr>
          <a:xfrm>
            <a:off x="815975" y="4413886"/>
            <a:ext cx="3431064" cy="1424940"/>
          </a:xfrm>
          <a:prstGeom prst="roundRect">
            <a:avLst>
              <a:gd name="adj" fmla="val 7799"/>
            </a:avLst>
          </a:prstGeom>
          <a:solidFill>
            <a:srgbClr val="FFFFFF"/>
          </a:solidFill>
          <a:ln w="6350">
            <a:solidFill>
              <a:srgbClr val="E2E5F0"/>
            </a:solidFill>
            <a:prstDash val="solid"/>
          </a:ln>
        </p:spPr>
      </p:sp>
      <p:sp>
        <p:nvSpPr>
          <p:cNvPr id="46" name="Text 44"/>
          <p:cNvSpPr/>
          <p:nvPr/>
        </p:nvSpPr>
        <p:spPr>
          <a:xfrm>
            <a:off x="995680" y="4568189"/>
            <a:ext cx="316380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9 · Close / lost</a:t>
            </a:r>
            <a:endParaRPr lang="en-US" sz="1300" dirty="0"/>
          </a:p>
        </p:txBody>
      </p:sp>
      <p:sp>
        <p:nvSpPr>
          <p:cNvPr id="47" name="Text 45"/>
          <p:cNvSpPr/>
          <p:nvPr/>
        </p:nvSpPr>
        <p:spPr>
          <a:xfrm>
            <a:off x="995680" y="4850132"/>
            <a:ext cx="3163803"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F46E5"/>
                </a:solidFill>
                <a:latin typeface="DM Sans" pitchFamily="34" charset="0"/>
                <a:ea typeface="DM Sans" pitchFamily="34" charset="-122"/>
                <a:cs typeface="DM Sans" pitchFamily="34" charset="-120"/>
              </a:rPr>
              <a:t>Finds + Connection</a:t>
            </a:r>
            <a:r>
              <a:rPr lang="en-US" sz="1200" dirty="0">
                <a:solidFill>
                  <a:srgbClr val="3D4459"/>
                </a:solidFill>
                <a:latin typeface="DM Sans" pitchFamily="34" charset="0"/>
                <a:ea typeface="DM Sans" pitchFamily="34" charset="-122"/>
                <a:cs typeface="DM Sans" pitchFamily="34" charset="-120"/>
              </a:rPr>
              <a:t> — catch "revisit in Q3" on lost deals</a:t>
            </a:r>
            <a:endParaRPr lang="en-US" sz="1200" dirty="0"/>
          </a:p>
        </p:txBody>
      </p:sp>
      <p:sp>
        <p:nvSpPr>
          <p:cNvPr id="48" name="Shape 46"/>
          <p:cNvSpPr/>
          <p:nvPr/>
        </p:nvSpPr>
        <p:spPr>
          <a:xfrm>
            <a:off x="4380389" y="4413886"/>
            <a:ext cx="3431143" cy="1424940"/>
          </a:xfrm>
          <a:prstGeom prst="roundRect">
            <a:avLst>
              <a:gd name="adj" fmla="val 7799"/>
            </a:avLst>
          </a:prstGeom>
          <a:solidFill>
            <a:srgbClr val="FFFFFF"/>
          </a:solidFill>
          <a:ln w="6350">
            <a:solidFill>
              <a:srgbClr val="E2E5F0"/>
            </a:solidFill>
            <a:prstDash val="solid"/>
          </a:ln>
        </p:spPr>
      </p:sp>
      <p:sp>
        <p:nvSpPr>
          <p:cNvPr id="49" name="Text 47"/>
          <p:cNvSpPr/>
          <p:nvPr/>
        </p:nvSpPr>
        <p:spPr>
          <a:xfrm>
            <a:off x="4560094" y="4568189"/>
            <a:ext cx="316388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A33"/>
                </a:solidFill>
                <a:latin typeface="DM Sans" pitchFamily="34" charset="0"/>
                <a:ea typeface="DM Sans" pitchFamily="34" charset="-122"/>
                <a:cs typeface="DM Sans" pitchFamily="34" charset="-120"/>
              </a:rPr>
              <a:t>10 · Grow</a:t>
            </a:r>
            <a:endParaRPr lang="en-US" sz="1300" dirty="0"/>
          </a:p>
        </p:txBody>
      </p:sp>
      <p:sp>
        <p:nvSpPr>
          <p:cNvPr id="50" name="Text 48"/>
          <p:cNvSpPr/>
          <p:nvPr/>
        </p:nvSpPr>
        <p:spPr>
          <a:xfrm>
            <a:off x="4560094" y="4850132"/>
            <a:ext cx="3163885"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F46E5"/>
                </a:solidFill>
                <a:latin typeface="DM Sans" pitchFamily="34" charset="0"/>
                <a:ea typeface="DM Sans" pitchFamily="34" charset="-122"/>
                <a:cs typeface="DM Sans" pitchFamily="34" charset="-120"/>
              </a:rPr>
              <a:t>Finds + Recommends</a:t>
            </a:r>
            <a:r>
              <a:rPr lang="en-US" sz="1200" dirty="0">
                <a:solidFill>
                  <a:srgbClr val="3D4459"/>
                </a:solidFill>
                <a:latin typeface="DM Sans" pitchFamily="34" charset="0"/>
                <a:ea typeface="DM Sans" pitchFamily="34" charset="-122"/>
                <a:cs typeface="DM Sans" pitchFamily="34" charset="-120"/>
              </a:rPr>
              <a:t> — spot cross-sell signals in won accounts</a:t>
            </a:r>
            <a:endParaRPr lang="en-US" sz="1200" dirty="0"/>
          </a:p>
        </p:txBody>
      </p:sp>
      <p:sp>
        <p:nvSpPr>
          <p:cNvPr id="51" name="Shape 49"/>
          <p:cNvSpPr/>
          <p:nvPr/>
        </p:nvSpPr>
        <p:spPr>
          <a:xfrm>
            <a:off x="7941707" y="4410711"/>
            <a:ext cx="3437493" cy="1431290"/>
          </a:xfrm>
          <a:prstGeom prst="roundRect">
            <a:avLst>
              <a:gd name="adj" fmla="val 7986"/>
            </a:avLst>
          </a:prstGeom>
          <a:solidFill>
            <a:srgbClr val="141A33"/>
          </a:solidFill>
          <a:ln/>
        </p:spPr>
      </p:sp>
      <p:sp>
        <p:nvSpPr>
          <p:cNvPr id="52" name="Text 50"/>
          <p:cNvSpPr/>
          <p:nvPr/>
        </p:nvSpPr>
        <p:spPr>
          <a:xfrm>
            <a:off x="8119507" y="4563111"/>
            <a:ext cx="31743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BBF24"/>
                </a:solidFill>
                <a:latin typeface="DM Sans" pitchFamily="34" charset="0"/>
                <a:ea typeface="DM Sans" pitchFamily="34" charset="-122"/>
                <a:cs typeface="DM Sans" pitchFamily="34" charset="-120"/>
              </a:rPr>
              <a:t>Cards we rejected</a:t>
            </a:r>
            <a:endParaRPr lang="en-US" sz="1300" dirty="0"/>
          </a:p>
        </p:txBody>
      </p:sp>
      <p:sp>
        <p:nvSpPr>
          <p:cNvPr id="53" name="Text 51"/>
          <p:cNvSpPr/>
          <p:nvPr/>
        </p:nvSpPr>
        <p:spPr>
          <a:xfrm>
            <a:off x="8119507" y="4845050"/>
            <a:ext cx="317435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7FB"/>
                </a:solidFill>
                <a:latin typeface="DM Sans" pitchFamily="34" charset="0"/>
                <a:ea typeface="DM Sans" pitchFamily="34" charset="-122"/>
                <a:cs typeface="DM Sans" pitchFamily="34" charset="-120"/>
              </a:rPr>
              <a:t>Autonomous · Commands · Facial recognition — AI never sends, changes or decides on its own</a:t>
            </a:r>
            <a:endParaRPr lang="en-US" sz="1200" dirty="0"/>
          </a:p>
        </p:txBody>
      </p:sp>
      <p:sp>
        <p:nvSpPr>
          <p:cNvPr id="54" name="Text 5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06 · Step 2: Miro process board with AI cards and ethical risk cards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DM Sans" pitchFamily="34" charset="0"/>
                <a:ea typeface="DM Sans" pitchFamily="34" charset="-122"/>
                <a:cs typeface="DM Sans" pitchFamily="34" charset="-120"/>
              </a:rPr>
              <a:t>THE OPPORTUNITY WE CHOSE</a:t>
            </a:r>
            <a:endParaRPr lang="en-US" sz="1200" dirty="0"/>
          </a:p>
        </p:txBody>
      </p:sp>
      <p:sp>
        <p:nvSpPr>
          <p:cNvPr id="3" name="Text 1"/>
          <p:cNvSpPr/>
          <p:nvPr>
            <p:ph type="title"/>
          </p:nvPr>
        </p:nvSpPr>
        <p:spPr>
          <a:xfrm>
            <a:off x="812800" y="1127761"/>
            <a:ext cx="10883392" cy="130556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6F7FB"/>
                </a:solidFill>
                <a:latin typeface="DM Sans" pitchFamily="34" charset="0"/>
                <a:ea typeface="DM Sans" pitchFamily="34" charset="-122"/>
                <a:cs typeface="DM Sans" pitchFamily="34" charset="-120"/>
              </a:rPr>
              <a:t>"When I'm between meetings, help me know what I owe each client today — and keep the CRM true without me typing it — so no warm deal goes cold."</a:t>
            </a:r>
            <a:endParaRPr lang="en-US" sz="2800" dirty="0"/>
          </a:p>
        </p:txBody>
      </p:sp>
      <p:sp>
        <p:nvSpPr>
          <p:cNvPr id="4" name="Shape 2"/>
          <p:cNvSpPr/>
          <p:nvPr/>
        </p:nvSpPr>
        <p:spPr>
          <a:xfrm>
            <a:off x="812800" y="2712721"/>
            <a:ext cx="3352800" cy="3129280"/>
          </a:xfrm>
          <a:prstGeom prst="roundRect">
            <a:avLst>
              <a:gd name="adj" fmla="val 4058"/>
            </a:avLst>
          </a:prstGeom>
          <a:solidFill>
            <a:srgbClr val="1F2747"/>
          </a:solidFill>
          <a:ln/>
        </p:spPr>
      </p:sp>
      <p:sp>
        <p:nvSpPr>
          <p:cNvPr id="5" name="Text 3"/>
          <p:cNvSpPr/>
          <p:nvPr/>
        </p:nvSpPr>
        <p:spPr>
          <a:xfrm>
            <a:off x="1066800" y="2966721"/>
            <a:ext cx="29301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5B4FC"/>
                </a:solidFill>
                <a:latin typeface="DM Sans" pitchFamily="34" charset="0"/>
                <a:ea typeface="DM Sans" pitchFamily="34" charset="-122"/>
                <a:cs typeface="DM Sans" pitchFamily="34" charset="-120"/>
              </a:rPr>
              <a:t>Why AI, not another rule</a:t>
            </a:r>
            <a:endParaRPr lang="en-US" sz="1600" dirty="0"/>
          </a:p>
        </p:txBody>
      </p:sp>
      <p:sp>
        <p:nvSpPr>
          <p:cNvPr id="6" name="Text 4"/>
          <p:cNvSpPr/>
          <p:nvPr/>
        </p:nvSpPr>
        <p:spPr>
          <a:xfrm>
            <a:off x="1066800" y="3337561"/>
            <a:ext cx="2930144"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4E7F5"/>
                </a:solidFill>
                <a:latin typeface="DM Sans" pitchFamily="34" charset="0"/>
                <a:ea typeface="DM Sans" pitchFamily="34" charset="-122"/>
                <a:cs typeface="DM Sans" pitchFamily="34" charset="-120"/>
              </a:rPr>
              <a:t>The signals are written in plain language. "Revisit in Q3" or "can you send by Friday" can't be caught by a form field or a filter.</a:t>
            </a:r>
            <a:endParaRPr lang="en-US" sz="1300" dirty="0"/>
          </a:p>
        </p:txBody>
      </p:sp>
      <p:sp>
        <p:nvSpPr>
          <p:cNvPr id="7" name="Text 5"/>
          <p:cNvSpPr/>
          <p:nvPr/>
        </p:nvSpPr>
        <p:spPr>
          <a:xfrm>
            <a:off x="1066800" y="4422139"/>
            <a:ext cx="2930144"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4E7F5"/>
                </a:solidFill>
                <a:latin typeface="DM Sans" pitchFamily="34" charset="0"/>
                <a:ea typeface="DM Sans" pitchFamily="34" charset="-122"/>
                <a:cs typeface="DM Sans" pitchFamily="34" charset="-120"/>
              </a:rPr>
              <a:t>Discipline was tried twice. The fix has to </a:t>
            </a:r>
            <a:r>
              <a:rPr lang="en-US" sz="1300" b="1" dirty="0">
                <a:solidFill>
                  <a:srgbClr val="E4E7F5"/>
                </a:solidFill>
                <a:latin typeface="DM Sans" pitchFamily="34" charset="0"/>
                <a:ea typeface="DM Sans" pitchFamily="34" charset="-122"/>
                <a:cs typeface="DM Sans" pitchFamily="34" charset="-120"/>
              </a:rPr>
              <a:t>remove</a:t>
            </a:r>
            <a:r>
              <a:rPr lang="en-US" sz="1300" dirty="0">
                <a:solidFill>
                  <a:srgbClr val="E4E7F5"/>
                </a:solidFill>
                <a:latin typeface="DM Sans" pitchFamily="34" charset="0"/>
                <a:ea typeface="DM Sans" pitchFamily="34" charset="-122"/>
                <a:cs typeface="DM Sans" pitchFamily="34" charset="-120"/>
              </a:rPr>
              <a:t> the typing, not ask for more of it.</a:t>
            </a:r>
            <a:endParaRPr lang="en-US" sz="1300" dirty="0"/>
          </a:p>
        </p:txBody>
      </p:sp>
      <p:sp>
        <p:nvSpPr>
          <p:cNvPr id="8" name="Shape 6"/>
          <p:cNvSpPr/>
          <p:nvPr/>
        </p:nvSpPr>
        <p:spPr>
          <a:xfrm>
            <a:off x="4419600" y="2712721"/>
            <a:ext cx="3352800" cy="3129280"/>
          </a:xfrm>
          <a:prstGeom prst="roundRect">
            <a:avLst>
              <a:gd name="adj" fmla="val 4058"/>
            </a:avLst>
          </a:prstGeom>
          <a:solidFill>
            <a:srgbClr val="1F2747"/>
          </a:solidFill>
          <a:ln/>
        </p:spPr>
      </p:sp>
      <p:sp>
        <p:nvSpPr>
          <p:cNvPr id="9" name="Text 7"/>
          <p:cNvSpPr/>
          <p:nvPr/>
        </p:nvSpPr>
        <p:spPr>
          <a:xfrm>
            <a:off x="4673600" y="2966721"/>
            <a:ext cx="29301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6EFAC"/>
                </a:solidFill>
                <a:latin typeface="DM Sans" pitchFamily="34" charset="0"/>
                <a:ea typeface="DM Sans" pitchFamily="34" charset="-122"/>
                <a:cs typeface="DM Sans" pitchFamily="34" charset="-120"/>
              </a:rPr>
              <a:t>AI does</a:t>
            </a:r>
            <a:endParaRPr lang="en-US" sz="1600" dirty="0"/>
          </a:p>
        </p:txBody>
      </p:sp>
      <p:sp>
        <p:nvSpPr>
          <p:cNvPr id="10" name="Text 8"/>
          <p:cNvSpPr/>
          <p:nvPr/>
        </p:nvSpPr>
        <p:spPr>
          <a:xfrm>
            <a:off x="4673600" y="3312161"/>
            <a:ext cx="29301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Reads emails, notes and recordings</a:t>
            </a:r>
            <a:endParaRPr lang="en-US" sz="1300" dirty="0"/>
          </a:p>
        </p:txBody>
      </p:sp>
      <p:sp>
        <p:nvSpPr>
          <p:cNvPr id="11" name="Text 9"/>
          <p:cNvSpPr/>
          <p:nvPr/>
        </p:nvSpPr>
        <p:spPr>
          <a:xfrm>
            <a:off x="4673600" y="3876039"/>
            <a:ext cx="29301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Pulls out asks, promises and deadlines, with the source quote</a:t>
            </a:r>
            <a:endParaRPr lang="en-US" sz="1300" dirty="0"/>
          </a:p>
        </p:txBody>
      </p:sp>
      <p:sp>
        <p:nvSpPr>
          <p:cNvPr id="12" name="Text 10"/>
          <p:cNvSpPr/>
          <p:nvPr/>
        </p:nvSpPr>
        <p:spPr>
          <a:xfrm>
            <a:off x="4673600" y="4439921"/>
            <a:ext cx="29301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Ranks what to do today</a:t>
            </a:r>
            <a:endParaRPr lang="en-US" sz="1300" dirty="0"/>
          </a:p>
        </p:txBody>
      </p:sp>
      <p:sp>
        <p:nvSpPr>
          <p:cNvPr id="13" name="Text 11"/>
          <p:cNvSpPr/>
          <p:nvPr/>
        </p:nvSpPr>
        <p:spPr>
          <a:xfrm>
            <a:off x="4673600" y="4772661"/>
            <a:ext cx="29301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Drafts replies and minutes</a:t>
            </a:r>
            <a:endParaRPr lang="en-US" sz="1300" dirty="0"/>
          </a:p>
        </p:txBody>
      </p:sp>
      <p:sp>
        <p:nvSpPr>
          <p:cNvPr id="14" name="Shape 12"/>
          <p:cNvSpPr/>
          <p:nvPr/>
        </p:nvSpPr>
        <p:spPr>
          <a:xfrm>
            <a:off x="8026400" y="2712721"/>
            <a:ext cx="3352800" cy="3129280"/>
          </a:xfrm>
          <a:prstGeom prst="roundRect">
            <a:avLst>
              <a:gd name="adj" fmla="val 4058"/>
            </a:avLst>
          </a:prstGeom>
          <a:solidFill>
            <a:srgbClr val="1F2747"/>
          </a:solidFill>
          <a:ln/>
        </p:spPr>
      </p:sp>
      <p:sp>
        <p:nvSpPr>
          <p:cNvPr id="15" name="Text 13"/>
          <p:cNvSpPr/>
          <p:nvPr/>
        </p:nvSpPr>
        <p:spPr>
          <a:xfrm>
            <a:off x="8280400" y="2966721"/>
            <a:ext cx="29301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CA5A5"/>
                </a:solidFill>
                <a:latin typeface="DM Sans" pitchFamily="34" charset="0"/>
                <a:ea typeface="DM Sans" pitchFamily="34" charset="-122"/>
                <a:cs typeface="DM Sans" pitchFamily="34" charset="-120"/>
              </a:rPr>
              <a:t>AI never</a:t>
            </a:r>
            <a:endParaRPr lang="en-US" sz="1600" dirty="0"/>
          </a:p>
        </p:txBody>
      </p:sp>
      <p:sp>
        <p:nvSpPr>
          <p:cNvPr id="16" name="Text 14"/>
          <p:cNvSpPr/>
          <p:nvPr/>
        </p:nvSpPr>
        <p:spPr>
          <a:xfrm>
            <a:off x="8280400" y="3312161"/>
            <a:ext cx="29301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Sends anything to a client</a:t>
            </a:r>
            <a:endParaRPr lang="en-US" sz="1300" dirty="0"/>
          </a:p>
        </p:txBody>
      </p:sp>
      <p:sp>
        <p:nvSpPr>
          <p:cNvPr id="17" name="Text 15"/>
          <p:cNvSpPr/>
          <p:nvPr/>
        </p:nvSpPr>
        <p:spPr>
          <a:xfrm>
            <a:off x="8280400" y="3644900"/>
            <a:ext cx="29301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Changes a stage or value on its own</a:t>
            </a:r>
            <a:endParaRPr lang="en-US" sz="1300" dirty="0"/>
          </a:p>
        </p:txBody>
      </p:sp>
      <p:sp>
        <p:nvSpPr>
          <p:cNvPr id="18" name="Text 16"/>
          <p:cNvSpPr/>
          <p:nvPr/>
        </p:nvSpPr>
        <p:spPr>
          <a:xfrm>
            <a:off x="8280400" y="4208782"/>
            <a:ext cx="29301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Merges records or deletes data</a:t>
            </a:r>
            <a:endParaRPr lang="en-US" sz="1300" dirty="0"/>
          </a:p>
        </p:txBody>
      </p:sp>
      <p:sp>
        <p:nvSpPr>
          <p:cNvPr id="19" name="Text 17"/>
          <p:cNvSpPr/>
          <p:nvPr/>
        </p:nvSpPr>
        <p:spPr>
          <a:xfrm>
            <a:off x="8280400" y="4541521"/>
            <a:ext cx="293014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Invents a price, date or commitment</a:t>
            </a:r>
            <a:endParaRPr lang="en-US" sz="1300" dirty="0"/>
          </a:p>
        </p:txBody>
      </p:sp>
      <p:sp>
        <p:nvSpPr>
          <p:cNvPr id="20" name="Text 18"/>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6B8"/>
                </a:solidFill>
                <a:latin typeface="DM Sans" pitchFamily="34" charset="0"/>
                <a:ea typeface="DM Sans" pitchFamily="34" charset="-122"/>
                <a:cs typeface="DM Sans" pitchFamily="34" charset="-120"/>
              </a:rPr>
              <a:t>AtliQ Sales &amp; CRM Assistant · 07 · Job to be done &amp; scope boundary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08 · Step 3: AI PRD flow</a:t>
            </a:r>
            <a:endParaRPr lang="en-US" sz="12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THE SOLUTION</a:t>
            </a:r>
            <a:endParaRPr lang="en-US" sz="1200" dirty="0"/>
          </a:p>
        </p:txBody>
      </p:sp>
      <p:sp>
        <p:nvSpPr>
          <p:cNvPr id="4" name="Text 2"/>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A sales memory that closes the loop</a:t>
            </a:r>
            <a:endParaRPr lang="en-US" sz="3200" dirty="0"/>
          </a:p>
        </p:txBody>
      </p:sp>
      <p:sp>
        <p:nvSpPr>
          <p:cNvPr id="5" name="Shape 3"/>
          <p:cNvSpPr/>
          <p:nvPr/>
        </p:nvSpPr>
        <p:spPr>
          <a:xfrm>
            <a:off x="815975" y="1831975"/>
            <a:ext cx="6699250" cy="4006850"/>
          </a:xfrm>
          <a:prstGeom prst="roundRect">
            <a:avLst>
              <a:gd name="adj" fmla="val 3090"/>
            </a:avLst>
          </a:prstGeom>
          <a:solidFill>
            <a:srgbClr val="FFFFFF"/>
          </a:solidFill>
          <a:ln w="6350">
            <a:solidFill>
              <a:srgbClr val="E2E5F0"/>
            </a:solidFill>
            <a:prstDash val="solid"/>
          </a:ln>
        </p:spPr>
      </p:sp>
      <p:sp>
        <p:nvSpPr>
          <p:cNvPr id="6" name="Text 4"/>
          <p:cNvSpPr/>
          <p:nvPr/>
        </p:nvSpPr>
        <p:spPr>
          <a:xfrm>
            <a:off x="7823200" y="1965961"/>
            <a:ext cx="36626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DM Sans" pitchFamily="34" charset="0"/>
                <a:ea typeface="DM Sans" pitchFamily="34" charset="-122"/>
                <a:cs typeface="DM Sans" pitchFamily="34" charset="-120"/>
              </a:rPr>
              <a:t>AI reads &amp; writes</a:t>
            </a:r>
            <a:endParaRPr lang="en-US" sz="1600" dirty="0"/>
          </a:p>
        </p:txBody>
      </p:sp>
      <p:sp>
        <p:nvSpPr>
          <p:cNvPr id="7" name="Text 5"/>
          <p:cNvSpPr/>
          <p:nvPr/>
        </p:nvSpPr>
        <p:spPr>
          <a:xfrm>
            <a:off x="7823200" y="2301239"/>
            <a:ext cx="36626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Extracts asks, promises, dates and profiles; writes minutes and drafts. Every item carries its source quote.</a:t>
            </a:r>
            <a:endParaRPr lang="en-US" sz="1300" dirty="0"/>
          </a:p>
        </p:txBody>
      </p:sp>
      <p:sp>
        <p:nvSpPr>
          <p:cNvPr id="8" name="Text 6"/>
          <p:cNvSpPr/>
          <p:nvPr/>
        </p:nvSpPr>
        <p:spPr>
          <a:xfrm>
            <a:off x="7823200" y="3147061"/>
            <a:ext cx="36626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DM Sans" pitchFamily="34" charset="0"/>
                <a:ea typeface="DM Sans" pitchFamily="34" charset="-122"/>
                <a:cs typeface="DM Sans" pitchFamily="34" charset="-120"/>
              </a:rPr>
              <a:t>Code does the maths</a:t>
            </a:r>
            <a:endParaRPr lang="en-US" sz="1600" dirty="0"/>
          </a:p>
        </p:txBody>
      </p:sp>
      <p:sp>
        <p:nvSpPr>
          <p:cNvPr id="9" name="Text 7"/>
          <p:cNvSpPr/>
          <p:nvPr/>
        </p:nvSpPr>
        <p:spPr>
          <a:xfrm>
            <a:off x="7823200" y="3482339"/>
            <a:ext cx="366268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Due dates, ranking, quote checks and duplicate flags run in code — repeatable and testable.</a:t>
            </a:r>
            <a:endParaRPr lang="en-US" sz="1300" dirty="0"/>
          </a:p>
        </p:txBody>
      </p:sp>
      <p:sp>
        <p:nvSpPr>
          <p:cNvPr id="10" name="Text 8"/>
          <p:cNvSpPr/>
          <p:nvPr/>
        </p:nvSpPr>
        <p:spPr>
          <a:xfrm>
            <a:off x="7823200" y="4328164"/>
            <a:ext cx="36626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F46E5"/>
                </a:solidFill>
                <a:latin typeface="DM Sans" pitchFamily="34" charset="0"/>
                <a:ea typeface="DM Sans" pitchFamily="34" charset="-122"/>
                <a:cs typeface="DM Sans" pitchFamily="34" charset="-120"/>
              </a:rPr>
              <a:t>Humans decide</a:t>
            </a:r>
            <a:endParaRPr lang="en-US" sz="1600" dirty="0"/>
          </a:p>
        </p:txBody>
      </p:sp>
      <p:sp>
        <p:nvSpPr>
          <p:cNvPr id="11" name="Text 9"/>
          <p:cNvSpPr/>
          <p:nvPr/>
        </p:nvSpPr>
        <p:spPr>
          <a:xfrm>
            <a:off x="7823200" y="4663442"/>
            <a:ext cx="36626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Mark done, move stage, send, merge — one tap each, always by a person.</a:t>
            </a:r>
            <a:endParaRPr lang="en-US" sz="1300" dirty="0"/>
          </a:p>
        </p:txBody>
      </p:sp>
      <p:sp>
        <p:nvSpPr>
          <p:cNvPr id="12" name="Text 10"/>
          <p:cNvSpPr/>
          <p:nvPr/>
        </p:nvSpPr>
        <p:spPr>
          <a:xfrm>
            <a:off x="7823200" y="5278121"/>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Groq · gpt-oss-20b &amp; 120b · Whisper · Next.js on Vercel</a:t>
            </a:r>
            <a:endParaRPr lang="en-US" sz="1200" dirty="0"/>
          </a:p>
        </p:txBody>
      </p:sp>
      <p:pic>
        <p:nvPicPr>
          <p:cNvPr id="13" name="Image 0" descr="Flow: emails, notes and recordings go through AI extraction, code checks and ranking, to the founder who approves actions that update the CRM">    </p:cNvPr>
          <p:cNvPicPr>
            <a:picLocks noChangeAspect="1"/>
          </p:cNvPicPr>
          <p:nvPr/>
        </p:nvPicPr>
        <p:blipFill>
          <a:blip r:embed="rId1"/>
          <a:srcRect l="-77919" r="-77919" t="0" b="0"/>
          <a:stretch/>
        </p:blipFill>
        <p:spPr>
          <a:xfrm>
            <a:off x="814070" y="1828800"/>
            <a:ext cx="6713220" cy="4013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0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WALKTHROUGH 1 · START THE DAY</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Open the app, know what to do today</a:t>
            </a:r>
            <a:endParaRPr lang="en-US" sz="3200" dirty="0"/>
          </a:p>
        </p:txBody>
      </p:sp>
      <p:pic>
        <p:nvPicPr>
          <p:cNvPr id="4" name="Image 0" descr="Home screen: sales overview, needs-attention tiles and top 5 actions">    </p:cNvPr>
          <p:cNvPicPr>
            <a:picLocks noChangeAspect="1"/>
          </p:cNvPicPr>
          <p:nvPr/>
        </p:nvPicPr>
        <p:blipFill>
          <a:blip r:embed="rId1"/>
          <a:srcRect l="0" r="0" t="0" b="0"/>
          <a:stretch/>
        </p:blipFill>
        <p:spPr>
          <a:xfrm>
            <a:off x="812800" y="1828800"/>
            <a:ext cx="5518864" cy="3449320"/>
          </a:xfrm>
          <a:prstGeom prst="roundRect">
            <a:avLst>
              <a:gd name="adj" fmla="val 2946"/>
            </a:avLst>
          </a:prstGeom>
          <a:effectLst>
            <a:outerShdw sx="100000" sy="100000" kx="0" ky="0" algn="bl" rotWithShape="0" blurRad="254000" dist="76200" dir="5400000">
              <a:srgbClr val="141A33">
                <a:alpha val="18000"/>
              </a:srgbClr>
            </a:outerShdw>
          </a:effectLst>
        </p:spPr>
      </p:pic>
      <p:sp>
        <p:nvSpPr>
          <p:cNvPr id="5" name="Text 2"/>
          <p:cNvSpPr/>
          <p:nvPr/>
        </p:nvSpPr>
        <p:spPr>
          <a:xfrm>
            <a:off x="812800" y="5379721"/>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Home:</a:t>
            </a:r>
            <a:r>
              <a:rPr lang="en-US" sz="1300" dirty="0">
                <a:solidFill>
                  <a:srgbClr val="3D4459"/>
                </a:solidFill>
                <a:latin typeface="DM Sans" pitchFamily="34" charset="0"/>
                <a:ea typeface="DM Sans" pitchFamily="34" charset="-122"/>
                <a:cs typeface="DM Sans" pitchFamily="34" charset="-120"/>
              </a:rPr>
              <a:t> pipeline, overdue, due this week, new leads — then the top 5 actions, ranked.</a:t>
            </a:r>
            <a:endParaRPr lang="en-US" sz="1300" dirty="0"/>
          </a:p>
        </p:txBody>
      </p:sp>
      <p:pic>
        <p:nvPicPr>
          <p:cNvPr id="6" name="Image 1" descr="Follow-ups screen grouped by time, each with source quote and due date">    </p:cNvPr>
          <p:cNvPicPr>
            <a:picLocks noChangeAspect="1"/>
          </p:cNvPicPr>
          <p:nvPr/>
        </p:nvPicPr>
        <p:blipFill>
          <a:blip r:embed="rId2"/>
          <a:srcRect l="0" r="0" t="0" b="0"/>
          <a:stretch/>
        </p:blipFill>
        <p:spPr>
          <a:xfrm>
            <a:off x="6223000" y="1828800"/>
            <a:ext cx="5518864" cy="3449320"/>
          </a:xfrm>
          <a:prstGeom prst="roundRect">
            <a:avLst>
              <a:gd name="adj" fmla="val 2946"/>
            </a:avLst>
          </a:prstGeom>
          <a:effectLst>
            <a:outerShdw sx="100000" sy="100000" kx="0" ky="0" algn="bl" rotWithShape="0" blurRad="254000" dist="76200" dir="5400000">
              <a:srgbClr val="141A33">
                <a:alpha val="18000"/>
              </a:srgbClr>
            </a:outerShdw>
          </a:effectLst>
        </p:spPr>
      </p:pic>
      <p:sp>
        <p:nvSpPr>
          <p:cNvPr id="7" name="Text 3"/>
          <p:cNvSpPr/>
          <p:nvPr/>
        </p:nvSpPr>
        <p:spPr>
          <a:xfrm>
            <a:off x="6223000" y="5379721"/>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Follow-ups:</a:t>
            </a:r>
            <a:r>
              <a:rPr lang="en-US" sz="1300" dirty="0">
                <a:solidFill>
                  <a:srgbClr val="3D4459"/>
                </a:solidFill>
                <a:latin typeface="DM Sans" pitchFamily="34" charset="0"/>
                <a:ea typeface="DM Sans" pitchFamily="34" charset="-122"/>
                <a:cs typeface="DM Sans" pitchFamily="34" charset="-120"/>
              </a:rPr>
              <a:t> by time or by lead. Each shows the quote it came from — done, snooze or remind me.</a:t>
            </a:r>
            <a:endParaRPr lang="en-US" sz="1300" dirty="0"/>
          </a:p>
        </p:txBody>
      </p:sp>
      <p:sp>
        <p:nvSpPr>
          <p:cNvPr id="8"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09 · Live prototype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0F8"/>
        </a:solidFill>
      </p:bgPr>
    </p:bg>
    <p:spTree>
      <p:nvGrpSpPr>
        <p:cNvPr id="1" name=""/>
        <p:cNvGrpSpPr/>
        <p:nvPr/>
      </p:nvGrpSpPr>
      <p:grpSpPr>
        <a:xfrm>
          <a:off x="0" y="0"/>
          <a:ext cx="0" cy="0"/>
          <a:chOff x="0" y="0"/>
          <a:chExt cx="0" cy="0"/>
        </a:xfrm>
      </p:grpSpPr>
      <p:sp>
        <p:nvSpPr>
          <p:cNvPr id="2" name="Text 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10 · Live prototype</a:t>
            </a:r>
            <a:endParaRPr lang="en-US" sz="12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WALKTHROUGH 2 · WORK A DEAL</a:t>
            </a:r>
            <a:endParaRPr lang="en-US" sz="1200" dirty="0"/>
          </a:p>
        </p:txBody>
      </p:sp>
      <p:sp>
        <p:nvSpPr>
          <p:cNvPr id="4" name="Text 2"/>
          <p:cNvSpPr/>
          <p:nvPr>
            <p:ph type="title"/>
          </p:nvPr>
        </p:nvSpPr>
        <p:spPr>
          <a:xfrm>
            <a:off x="812800" y="1127764"/>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One tap closes the loop — and the CRM updates itself</a:t>
            </a:r>
            <a:endParaRPr lang="en-US" sz="3200" dirty="0"/>
          </a:p>
        </p:txBody>
      </p:sp>
      <p:pic>
        <p:nvPicPr>
          <p:cNvPr id="5" name="Image 0" descr="ShopSwift lead page: about, status panel with stage track, open follow-ups">    </p:cNvPr>
          <p:cNvPicPr>
            <a:picLocks noChangeAspect="1"/>
          </p:cNvPicPr>
          <p:nvPr/>
        </p:nvPicPr>
        <p:blipFill>
          <a:blip r:embed="rId1"/>
          <a:stretch>
            <a:fillRect/>
          </a:stretch>
        </p:blipFill>
        <p:spPr>
          <a:xfrm>
            <a:off x="1104323" y="2273300"/>
            <a:ext cx="5652655" cy="3886200"/>
          </a:xfrm>
          <a:prstGeom prst="rect">
            <a:avLst/>
          </a:prstGeom>
          <a:effectLst>
            <a:outerShdw sx="100000" sy="100000" kx="0" ky="0" algn="bl" rotWithShape="0" blurRad="254000" dist="76200" dir="5400000">
              <a:srgbClr val="141A33">
                <a:alpha val="18000"/>
              </a:srgbClr>
            </a:outerShdw>
          </a:effectLst>
        </p:spPr>
      </p:pic>
      <p:sp>
        <p:nvSpPr>
          <p:cNvPr id="6" name="Text 3"/>
          <p:cNvSpPr/>
          <p:nvPr/>
        </p:nvSpPr>
        <p:spPr>
          <a:xfrm>
            <a:off x="7353300" y="2829564"/>
            <a:ext cx="355600" cy="52324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F46E5"/>
                </a:solidFill>
                <a:latin typeface="DM Sans" pitchFamily="34" charset="0"/>
                <a:ea typeface="DM Sans" pitchFamily="34" charset="-122"/>
                <a:cs typeface="DM Sans" pitchFamily="34" charset="-120"/>
              </a:rPr>
              <a:t>1</a:t>
            </a:r>
            <a:endParaRPr lang="en-US" sz="2000" dirty="0"/>
          </a:p>
        </p:txBody>
      </p:sp>
      <p:sp>
        <p:nvSpPr>
          <p:cNvPr id="7" name="Text 4"/>
          <p:cNvSpPr/>
          <p:nvPr/>
        </p:nvSpPr>
        <p:spPr>
          <a:xfrm>
            <a:off x="7785100" y="2829564"/>
            <a:ext cx="370192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459"/>
                </a:solidFill>
                <a:latin typeface="DM Sans" pitchFamily="34" charset="0"/>
                <a:ea typeface="DM Sans" pitchFamily="34" charset="-122"/>
                <a:cs typeface="DM Sans" pitchFamily="34" charset="-120"/>
              </a:rPr>
              <a:t>ShopSwift, $55k.</a:t>
            </a:r>
            <a:r>
              <a:rPr lang="en-US" sz="1400" dirty="0">
                <a:solidFill>
                  <a:srgbClr val="3D4459"/>
                </a:solidFill>
                <a:latin typeface="DM Sans" pitchFamily="34" charset="0"/>
                <a:ea typeface="DM Sans" pitchFamily="34" charset="-122"/>
                <a:cs typeface="DM Sans" pitchFamily="34" charset="-120"/>
              </a:rPr>
              <a:t> AI summary, who they are, and the buried ask: SOW by 15 Jul.</a:t>
            </a:r>
            <a:endParaRPr lang="en-US" sz="1400" dirty="0"/>
          </a:p>
        </p:txBody>
      </p:sp>
      <p:sp>
        <p:nvSpPr>
          <p:cNvPr id="8" name="Text 5"/>
          <p:cNvSpPr/>
          <p:nvPr/>
        </p:nvSpPr>
        <p:spPr>
          <a:xfrm>
            <a:off x="7353300" y="3505200"/>
            <a:ext cx="355600" cy="52324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F46E5"/>
                </a:solidFill>
                <a:latin typeface="DM Sans" pitchFamily="34" charset="0"/>
                <a:ea typeface="DM Sans" pitchFamily="34" charset="-122"/>
                <a:cs typeface="DM Sans" pitchFamily="34" charset="-120"/>
              </a:rPr>
              <a:t>2</a:t>
            </a:r>
            <a:endParaRPr lang="en-US" sz="2000" dirty="0"/>
          </a:p>
        </p:txBody>
      </p:sp>
      <p:sp>
        <p:nvSpPr>
          <p:cNvPr id="9" name="Text 6"/>
          <p:cNvSpPr/>
          <p:nvPr/>
        </p:nvSpPr>
        <p:spPr>
          <a:xfrm>
            <a:off x="7785100" y="3505200"/>
            <a:ext cx="370192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459"/>
                </a:solidFill>
                <a:latin typeface="DM Sans" pitchFamily="34" charset="0"/>
                <a:ea typeface="DM Sans" pitchFamily="34" charset="-122"/>
                <a:cs typeface="DM Sans" pitchFamily="34" charset="-120"/>
              </a:rPr>
              <a:t>Draft the reply.</a:t>
            </a:r>
            <a:r>
              <a:rPr lang="en-US" sz="1400" dirty="0">
                <a:solidFill>
                  <a:srgbClr val="3D4459"/>
                </a:solidFill>
                <a:latin typeface="DM Sans" pitchFamily="34" charset="0"/>
                <a:ea typeface="DM Sans" pitchFamily="34" charset="-122"/>
                <a:cs typeface="DM Sans" pitchFamily="34" charset="-120"/>
              </a:rPr>
              <a:t> AI writes it; anything it doesn't know shows as [TBD].</a:t>
            </a:r>
            <a:endParaRPr lang="en-US" sz="1400" dirty="0"/>
          </a:p>
        </p:txBody>
      </p:sp>
      <p:sp>
        <p:nvSpPr>
          <p:cNvPr id="10" name="Text 7"/>
          <p:cNvSpPr/>
          <p:nvPr/>
        </p:nvSpPr>
        <p:spPr>
          <a:xfrm>
            <a:off x="7353300" y="4180842"/>
            <a:ext cx="355600" cy="7721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F46E5"/>
                </a:solidFill>
                <a:latin typeface="DM Sans" pitchFamily="34" charset="0"/>
                <a:ea typeface="DM Sans" pitchFamily="34" charset="-122"/>
                <a:cs typeface="DM Sans" pitchFamily="34" charset="-120"/>
              </a:rPr>
              <a:t>3</a:t>
            </a:r>
            <a:endParaRPr lang="en-US" sz="2000" dirty="0"/>
          </a:p>
        </p:txBody>
      </p:sp>
      <p:sp>
        <p:nvSpPr>
          <p:cNvPr id="11" name="Text 8"/>
          <p:cNvSpPr/>
          <p:nvPr/>
        </p:nvSpPr>
        <p:spPr>
          <a:xfrm>
            <a:off x="7785100" y="4180842"/>
            <a:ext cx="3701923"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459"/>
                </a:solidFill>
                <a:latin typeface="DM Sans" pitchFamily="34" charset="0"/>
                <a:ea typeface="DM Sans" pitchFamily="34" charset="-122"/>
                <a:cs typeface="DM Sans" pitchFamily="34" charset="-120"/>
              </a:rPr>
              <a:t>Mark done: "SOW sent".</a:t>
            </a:r>
            <a:r>
              <a:rPr lang="en-US" sz="1400" dirty="0">
                <a:solidFill>
                  <a:srgbClr val="3D4459"/>
                </a:solidFill>
                <a:latin typeface="DM Sans" pitchFamily="34" charset="0"/>
                <a:ea typeface="DM Sans" pitchFamily="34" charset="-122"/>
                <a:cs typeface="DM Sans" pitchFamily="34" charset="-120"/>
              </a:rPr>
              <a:t> Action and date are logged; stage moves Qualified → Proposal Sent.</a:t>
            </a:r>
            <a:endParaRPr lang="en-US" sz="1400" dirty="0"/>
          </a:p>
        </p:txBody>
      </p:sp>
      <p:sp>
        <p:nvSpPr>
          <p:cNvPr id="12" name="Text 9"/>
          <p:cNvSpPr/>
          <p:nvPr/>
        </p:nvSpPr>
        <p:spPr>
          <a:xfrm>
            <a:off x="7353300" y="5105400"/>
            <a:ext cx="355600" cy="52324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4F46E5"/>
                </a:solidFill>
                <a:latin typeface="DM Sans" pitchFamily="34" charset="0"/>
                <a:ea typeface="DM Sans" pitchFamily="34" charset="-122"/>
                <a:cs typeface="DM Sans" pitchFamily="34" charset="-120"/>
              </a:rPr>
              <a:t>4</a:t>
            </a:r>
            <a:endParaRPr lang="en-US" sz="2000" dirty="0"/>
          </a:p>
        </p:txBody>
      </p:sp>
      <p:sp>
        <p:nvSpPr>
          <p:cNvPr id="13" name="Text 10"/>
          <p:cNvSpPr/>
          <p:nvPr/>
        </p:nvSpPr>
        <p:spPr>
          <a:xfrm>
            <a:off x="7785100" y="5105400"/>
            <a:ext cx="3701923"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459"/>
                </a:solidFill>
                <a:latin typeface="DM Sans" pitchFamily="34" charset="0"/>
                <a:ea typeface="DM Sans" pitchFamily="34" charset="-122"/>
                <a:cs typeface="DM Sans" pitchFamily="34" charset="-120"/>
              </a:rPr>
              <a:t>Profile completeness</a:t>
            </a:r>
            <a:r>
              <a:rPr lang="en-US" sz="1400" dirty="0">
                <a:solidFill>
                  <a:srgbClr val="3D4459"/>
                </a:solidFill>
                <a:latin typeface="DM Sans" pitchFamily="34" charset="0"/>
                <a:ea typeface="DM Sans" pitchFamily="34" charset="-122"/>
                <a:cs typeface="DM Sans" pitchFamily="34" charset="-120"/>
              </a:rPr>
              <a:t> shows what's missing — fill it in place.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0F8"/>
        </a:solidFill>
      </p:bgPr>
    </p:bg>
    <p:spTree>
      <p:nvGrpSpPr>
        <p:cNvPr id="1" name=""/>
        <p:cNvGrpSpPr/>
        <p:nvPr/>
      </p:nvGrpSpPr>
      <p:grpSpPr>
        <a:xfrm>
          <a:off x="0" y="0"/>
          <a:ext cx="0" cy="0"/>
          <a:chOff x="0" y="0"/>
          <a:chExt cx="0" cy="0"/>
        </a:xfrm>
      </p:grpSpPr>
      <p:sp>
        <p:nvSpPr>
          <p:cNvPr id="2" name="Text 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11 · Live prototype · Whisper speech-to-text + gpt-oss</a:t>
            </a:r>
            <a:endParaRPr lang="en-US" sz="12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WALKTHROUGH 3 · CAPTURE WITHOUT TYPING</a:t>
            </a:r>
            <a:endParaRPr lang="en-US" sz="1200" dirty="0"/>
          </a:p>
        </p:txBody>
      </p:sp>
      <p:sp>
        <p:nvSpPr>
          <p:cNvPr id="4" name="Text 2"/>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Talk, paste or record — the CRM fills itself</a:t>
            </a:r>
            <a:endParaRPr lang="en-US" sz="3200" dirty="0"/>
          </a:p>
        </p:txBody>
      </p:sp>
      <p:pic>
        <p:nvPicPr>
          <p:cNvPr id="5" name="Image 0" descr="Meeting recorder: record, upload, dictate or try the demo">    </p:cNvPr>
          <p:cNvPicPr>
            <a:picLocks noChangeAspect="1"/>
          </p:cNvPicPr>
          <p:nvPr/>
        </p:nvPicPr>
        <p:blipFill>
          <a:blip r:embed="rId1"/>
          <a:srcRect l="0" r="0" t="0" b="0"/>
          <a:stretch/>
        </p:blipFill>
        <p:spPr>
          <a:xfrm>
            <a:off x="812800" y="1828800"/>
            <a:ext cx="5149056" cy="3218180"/>
          </a:xfrm>
          <a:prstGeom prst="roundRect">
            <a:avLst>
              <a:gd name="adj" fmla="val 3157"/>
            </a:avLst>
          </a:prstGeom>
          <a:effectLst>
            <a:outerShdw sx="100000" sy="100000" kx="0" ky="0" algn="bl" rotWithShape="0" blurRad="254000" dist="76200" dir="5400000">
              <a:srgbClr val="141A33">
                <a:alpha val="18000"/>
              </a:srgbClr>
            </a:outerShdw>
          </a:effectLst>
        </p:spPr>
      </p:pic>
      <p:sp>
        <p:nvSpPr>
          <p:cNvPr id="6" name="Text 3"/>
          <p:cNvSpPr/>
          <p:nvPr/>
        </p:nvSpPr>
        <p:spPr>
          <a:xfrm>
            <a:off x="812800" y="5148579"/>
            <a:ext cx="3492627"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Log a meeting.</a:t>
            </a:r>
            <a:r>
              <a:rPr lang="en-US" sz="1300" dirty="0">
                <a:solidFill>
                  <a:srgbClr val="3D4459"/>
                </a:solidFill>
                <a:latin typeface="DM Sans" pitchFamily="34" charset="0"/>
                <a:ea typeface="DM Sans" pitchFamily="34" charset="-122"/>
                <a:cs typeface="DM Sans" pitchFamily="34" charset="-120"/>
              </a:rPr>
              <a:t> Record, upload or dictate. The GreenGrid demo returns minutes, $22k and 2 follow-ups with dates.</a:t>
            </a:r>
            <a:endParaRPr lang="en-US" sz="1300" dirty="0"/>
          </a:p>
        </p:txBody>
      </p:sp>
      <p:pic>
        <p:nvPicPr>
          <p:cNvPr id="7" name="Image 1" descr="New lead: paste a note, AI fills the fields and checks for duplicates">    </p:cNvPr>
          <p:cNvPicPr>
            <a:picLocks noChangeAspect="1"/>
          </p:cNvPicPr>
          <p:nvPr/>
        </p:nvPicPr>
        <p:blipFill>
          <a:blip r:embed="rId2"/>
          <a:srcRect l="0" r="0" t="0" b="0"/>
          <a:stretch/>
        </p:blipFill>
        <p:spPr>
          <a:xfrm>
            <a:off x="4400550" y="1828800"/>
            <a:ext cx="5149056" cy="3218180"/>
          </a:xfrm>
          <a:prstGeom prst="roundRect">
            <a:avLst>
              <a:gd name="adj" fmla="val 3157"/>
            </a:avLst>
          </a:prstGeom>
          <a:effectLst>
            <a:outerShdw sx="100000" sy="100000" kx="0" ky="0" algn="bl" rotWithShape="0" blurRad="254000" dist="76200" dir="5400000">
              <a:srgbClr val="141A33">
                <a:alpha val="18000"/>
              </a:srgbClr>
            </a:outerShdw>
          </a:effectLst>
        </p:spPr>
      </p:pic>
      <p:sp>
        <p:nvSpPr>
          <p:cNvPr id="8" name="Text 4"/>
          <p:cNvSpPr/>
          <p:nvPr/>
        </p:nvSpPr>
        <p:spPr>
          <a:xfrm>
            <a:off x="4400550" y="5148579"/>
            <a:ext cx="3492627"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Add a lead.</a:t>
            </a:r>
            <a:r>
              <a:rPr lang="en-US" sz="1300" dirty="0">
                <a:solidFill>
                  <a:srgbClr val="3D4459"/>
                </a:solidFill>
                <a:latin typeface="DM Sans" pitchFamily="34" charset="0"/>
                <a:ea typeface="DM Sans" pitchFamily="34" charset="-122"/>
                <a:cs typeface="DM Sans" pitchFamily="34" charset="-120"/>
              </a:rPr>
              <a:t> Paste an email or business card; AI fills the fields and warns about likely duplicates.</a:t>
            </a:r>
            <a:endParaRPr lang="en-US" sz="1300" dirty="0"/>
          </a:p>
        </p:txBody>
      </p:sp>
      <p:pic>
        <p:nvPicPr>
          <p:cNvPr id="9" name="Image 2" descr="Merge duplicates: side by side, the person picks which values to keep">    </p:cNvPr>
          <p:cNvPicPr>
            <a:picLocks noChangeAspect="1"/>
          </p:cNvPicPr>
          <p:nvPr/>
        </p:nvPicPr>
        <p:blipFill>
          <a:blip r:embed="rId3"/>
          <a:stretch>
            <a:fillRect/>
          </a:stretch>
        </p:blipFill>
        <p:spPr>
          <a:xfrm>
            <a:off x="7978132" y="1787246"/>
            <a:ext cx="5253609" cy="3283506"/>
          </a:xfrm>
          <a:custGeom>
            <a:avLst/>
            <a:gdLst/>
            <a:ahLst/>
            <a:cxnLst/>
            <a:rect l="l" t="t" r="r" b="b"/>
            <a:pathLst>
              <a:path w="5253609" h="3283506">
                <a:moveTo>
                  <a:pt x="0" y="14080"/>
                </a:moveTo>
                <a:arcTo wR="101600" hR="101600" stAng="14368593" swAng="1831407"/>
                <a:lnTo>
                  <a:pt x="5202008" y="0"/>
                </a:lnTo>
                <a:arcTo wR="101600" hR="101600" stAng="16200000" swAng="1831407"/>
                <a:lnTo>
                  <a:pt x="5253609" y="3269426"/>
                </a:lnTo>
                <a:arcTo wR="101600" hR="101600" stAng="3568593" swAng="1831407"/>
                <a:lnTo>
                  <a:pt x="51602" y="3283506"/>
                </a:lnTo>
                <a:arcTo wR="101600" hR="101600" stAng="5400000" swAng="1831407"/>
                <a:close/>
              </a:path>
            </a:pathLst>
          </a:custGeom>
          <a:effectLst>
            <a:outerShdw sx="100000" sy="100000" kx="0" ky="0" algn="bl" rotWithShape="0" blurRad="254000" dist="76200" dir="5400000">
              <a:srgbClr val="141A33">
                <a:alpha val="18000"/>
              </a:srgbClr>
            </a:outerShdw>
          </a:effectLst>
        </p:spPr>
      </p:pic>
      <p:sp>
        <p:nvSpPr>
          <p:cNvPr id="10" name="Text 5"/>
          <p:cNvSpPr/>
          <p:nvPr/>
        </p:nvSpPr>
        <p:spPr>
          <a:xfrm>
            <a:off x="8260397" y="5198033"/>
            <a:ext cx="3492627"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Merge duplicates.</a:t>
            </a:r>
            <a:r>
              <a:rPr lang="en-US" sz="1300" dirty="0">
                <a:solidFill>
                  <a:srgbClr val="3D4459"/>
                </a:solidFill>
                <a:latin typeface="DM Sans" pitchFamily="34" charset="0"/>
                <a:ea typeface="DM Sans" pitchFamily="34" charset="-122"/>
                <a:cs typeface="DM Sans" pitchFamily="34" charset="-120"/>
              </a:rPr>
              <a:t> Side by side; a person picks what to keep. AI flags, never merges.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SUCCESS METRICS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One North Star, backed by trust and safety</a:t>
            </a:r>
            <a:endParaRPr lang="en-US" sz="3200" dirty="0"/>
          </a:p>
        </p:txBody>
      </p:sp>
      <p:sp>
        <p:nvSpPr>
          <p:cNvPr id="4" name="Shape 2"/>
          <p:cNvSpPr/>
          <p:nvPr/>
        </p:nvSpPr>
        <p:spPr>
          <a:xfrm>
            <a:off x="812800" y="1879600"/>
            <a:ext cx="10566400" cy="1381760"/>
          </a:xfrm>
          <a:prstGeom prst="roundRect">
            <a:avLst>
              <a:gd name="adj" fmla="val 11029"/>
            </a:avLst>
          </a:prstGeom>
          <a:solidFill>
            <a:srgbClr val="141A33"/>
          </a:solidFill>
          <a:ln/>
        </p:spPr>
      </p:sp>
      <p:sp>
        <p:nvSpPr>
          <p:cNvPr id="5" name="Text 3"/>
          <p:cNvSpPr/>
          <p:nvPr/>
        </p:nvSpPr>
        <p:spPr>
          <a:xfrm>
            <a:off x="1117600" y="21336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5B4FC"/>
                </a:solidFill>
                <a:latin typeface="DM Sans" pitchFamily="34" charset="0"/>
                <a:ea typeface="DM Sans" pitchFamily="34" charset="-122"/>
                <a:cs typeface="DM Sans" pitchFamily="34" charset="-120"/>
              </a:rPr>
              <a:t>NORTH STAR</a:t>
            </a:r>
            <a:endParaRPr lang="en-US" sz="1200" dirty="0"/>
          </a:p>
        </p:txBody>
      </p:sp>
      <p:sp>
        <p:nvSpPr>
          <p:cNvPr id="6" name="Text 4"/>
          <p:cNvSpPr/>
          <p:nvPr/>
        </p:nvSpPr>
        <p:spPr>
          <a:xfrm>
            <a:off x="1117600" y="2397764"/>
            <a:ext cx="366268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7FB"/>
                </a:solidFill>
                <a:latin typeface="DM Sans" pitchFamily="34" charset="0"/>
                <a:ea typeface="DM Sans" pitchFamily="34" charset="-122"/>
                <a:cs typeface="DM Sans" pitchFamily="34" charset="-120"/>
              </a:rPr>
              <a:t>% of follow-ups done on time</a:t>
            </a:r>
            <a:endParaRPr lang="en-US" sz="2000" dirty="0"/>
          </a:p>
        </p:txBody>
      </p:sp>
      <p:sp>
        <p:nvSpPr>
          <p:cNvPr id="7" name="Text 5"/>
          <p:cNvSpPr/>
          <p:nvPr/>
        </p:nvSpPr>
        <p:spPr>
          <a:xfrm>
            <a:off x="4978400" y="2195829"/>
            <a:ext cx="1193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8F96B8"/>
                </a:solidFill>
                <a:latin typeface="DM Sans" pitchFamily="34" charset="0"/>
                <a:ea typeface="DM Sans" pitchFamily="34" charset="-122"/>
                <a:cs typeface="DM Sans" pitchFamily="34" charset="-120"/>
              </a:rPr>
              <a:t>~20%</a:t>
            </a:r>
            <a:endParaRPr lang="en-US" sz="2800" dirty="0"/>
          </a:p>
        </p:txBody>
      </p:sp>
      <p:sp>
        <p:nvSpPr>
          <p:cNvPr id="8" name="Text 6"/>
          <p:cNvSpPr/>
          <p:nvPr/>
        </p:nvSpPr>
        <p:spPr>
          <a:xfrm>
            <a:off x="4978400" y="2731771"/>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E6"/>
                </a:solidFill>
                <a:latin typeface="DM Sans" pitchFamily="34" charset="0"/>
                <a:ea typeface="DM Sans" pitchFamily="34" charset="-122"/>
                <a:cs typeface="DM Sans" pitchFamily="34" charset="-120"/>
              </a:rPr>
              <a:t>Today (est.)</a:t>
            </a:r>
            <a:endParaRPr lang="en-US" sz="1200" dirty="0"/>
          </a:p>
        </p:txBody>
      </p:sp>
      <p:sp>
        <p:nvSpPr>
          <p:cNvPr id="9" name="Text 7"/>
          <p:cNvSpPr/>
          <p:nvPr/>
        </p:nvSpPr>
        <p:spPr>
          <a:xfrm>
            <a:off x="6248400" y="2411729"/>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5B4FC"/>
                </a:solidFill>
                <a:latin typeface="DM Sans" pitchFamily="34" charset="0"/>
                <a:ea typeface="DM Sans" pitchFamily="34" charset="-122"/>
                <a:cs typeface="DM Sans" pitchFamily="34" charset="-120"/>
              </a:rPr>
              <a:t>→</a:t>
            </a:r>
            <a:endParaRPr lang="en-US" sz="2000" dirty="0"/>
          </a:p>
        </p:txBody>
      </p:sp>
      <p:sp>
        <p:nvSpPr>
          <p:cNvPr id="10" name="Text 8"/>
          <p:cNvSpPr/>
          <p:nvPr/>
        </p:nvSpPr>
        <p:spPr>
          <a:xfrm>
            <a:off x="6629400" y="2195829"/>
            <a:ext cx="1193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5B4FC"/>
                </a:solidFill>
                <a:latin typeface="DM Sans" pitchFamily="34" charset="0"/>
                <a:ea typeface="DM Sans" pitchFamily="34" charset="-122"/>
                <a:cs typeface="DM Sans" pitchFamily="34" charset="-120"/>
              </a:rPr>
              <a:t>≥60%</a:t>
            </a:r>
            <a:endParaRPr lang="en-US" sz="2800" dirty="0"/>
          </a:p>
        </p:txBody>
      </p:sp>
      <p:sp>
        <p:nvSpPr>
          <p:cNvPr id="11" name="Text 9"/>
          <p:cNvSpPr/>
          <p:nvPr/>
        </p:nvSpPr>
        <p:spPr>
          <a:xfrm>
            <a:off x="6629400" y="2731771"/>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E6"/>
                </a:solidFill>
                <a:latin typeface="DM Sans" pitchFamily="34" charset="0"/>
                <a:ea typeface="DM Sans" pitchFamily="34" charset="-122"/>
                <a:cs typeface="DM Sans" pitchFamily="34" charset="-120"/>
              </a:rPr>
              <a:t>Beta</a:t>
            </a:r>
            <a:endParaRPr lang="en-US" sz="1200" dirty="0"/>
          </a:p>
        </p:txBody>
      </p:sp>
      <p:sp>
        <p:nvSpPr>
          <p:cNvPr id="12" name="Text 10"/>
          <p:cNvSpPr/>
          <p:nvPr/>
        </p:nvSpPr>
        <p:spPr>
          <a:xfrm>
            <a:off x="7899400" y="2411729"/>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5B4FC"/>
                </a:solidFill>
                <a:latin typeface="DM Sans" pitchFamily="34" charset="0"/>
                <a:ea typeface="DM Sans" pitchFamily="34" charset="-122"/>
                <a:cs typeface="DM Sans" pitchFamily="34" charset="-120"/>
              </a:rPr>
              <a:t>→</a:t>
            </a:r>
            <a:endParaRPr lang="en-US" sz="2000" dirty="0"/>
          </a:p>
        </p:txBody>
      </p:sp>
      <p:sp>
        <p:nvSpPr>
          <p:cNvPr id="13" name="Text 11"/>
          <p:cNvSpPr/>
          <p:nvPr/>
        </p:nvSpPr>
        <p:spPr>
          <a:xfrm>
            <a:off x="8280400" y="2195829"/>
            <a:ext cx="1193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5B4FC"/>
                </a:solidFill>
                <a:latin typeface="DM Sans" pitchFamily="34" charset="0"/>
                <a:ea typeface="DM Sans" pitchFamily="34" charset="-122"/>
                <a:cs typeface="DM Sans" pitchFamily="34" charset="-120"/>
              </a:rPr>
              <a:t>≥80%</a:t>
            </a:r>
            <a:endParaRPr lang="en-US" sz="2800" dirty="0"/>
          </a:p>
        </p:txBody>
      </p:sp>
      <p:sp>
        <p:nvSpPr>
          <p:cNvPr id="14" name="Text 12"/>
          <p:cNvSpPr/>
          <p:nvPr/>
        </p:nvSpPr>
        <p:spPr>
          <a:xfrm>
            <a:off x="8280400" y="2731771"/>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E6"/>
                </a:solidFill>
                <a:latin typeface="DM Sans" pitchFamily="34" charset="0"/>
                <a:ea typeface="DM Sans" pitchFamily="34" charset="-122"/>
                <a:cs typeface="DM Sans" pitchFamily="34" charset="-120"/>
              </a:rPr>
              <a:t>Launch</a:t>
            </a:r>
            <a:endParaRPr lang="en-US" sz="1200" dirty="0"/>
          </a:p>
        </p:txBody>
      </p:sp>
      <p:sp>
        <p:nvSpPr>
          <p:cNvPr id="15" name="Text 13"/>
          <p:cNvSpPr/>
          <p:nvPr/>
        </p:nvSpPr>
        <p:spPr>
          <a:xfrm>
            <a:off x="9550400" y="2411729"/>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5B4FC"/>
                </a:solidFill>
                <a:latin typeface="DM Sans" pitchFamily="34" charset="0"/>
                <a:ea typeface="DM Sans" pitchFamily="34" charset="-122"/>
                <a:cs typeface="DM Sans" pitchFamily="34" charset="-120"/>
              </a:rPr>
              <a:t>→</a:t>
            </a:r>
            <a:endParaRPr lang="en-US" sz="2000" dirty="0"/>
          </a:p>
        </p:txBody>
      </p:sp>
      <p:sp>
        <p:nvSpPr>
          <p:cNvPr id="16" name="Text 14"/>
          <p:cNvSpPr/>
          <p:nvPr/>
        </p:nvSpPr>
        <p:spPr>
          <a:xfrm>
            <a:off x="9931400" y="2195829"/>
            <a:ext cx="11938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BBF24"/>
                </a:solidFill>
                <a:latin typeface="DM Sans" pitchFamily="34" charset="0"/>
                <a:ea typeface="DM Sans" pitchFamily="34" charset="-122"/>
                <a:cs typeface="DM Sans" pitchFamily="34" charset="-120"/>
              </a:rPr>
              <a:t>≥90%</a:t>
            </a:r>
            <a:endParaRPr lang="en-US" sz="2800" dirty="0"/>
          </a:p>
        </p:txBody>
      </p:sp>
      <p:sp>
        <p:nvSpPr>
          <p:cNvPr id="17" name="Text 15"/>
          <p:cNvSpPr/>
          <p:nvPr/>
        </p:nvSpPr>
        <p:spPr>
          <a:xfrm>
            <a:off x="9931400" y="2731771"/>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E6"/>
                </a:solidFill>
                <a:latin typeface="DM Sans" pitchFamily="34" charset="0"/>
                <a:ea typeface="DM Sans" pitchFamily="34" charset="-122"/>
                <a:cs typeface="DM Sans" pitchFamily="34" charset="-120"/>
              </a:rPr>
              <a:t>Steady state</a:t>
            </a:r>
            <a:endParaRPr lang="en-US" sz="1200" dirty="0"/>
          </a:p>
        </p:txBody>
      </p:sp>
      <p:sp>
        <p:nvSpPr>
          <p:cNvPr id="18" name="Shape 16"/>
          <p:cNvSpPr/>
          <p:nvPr/>
        </p:nvSpPr>
        <p:spPr>
          <a:xfrm>
            <a:off x="815975" y="3569339"/>
            <a:ext cx="3414157" cy="2269490"/>
          </a:xfrm>
          <a:prstGeom prst="roundRect">
            <a:avLst>
              <a:gd name="adj" fmla="val 5456"/>
            </a:avLst>
          </a:prstGeom>
          <a:solidFill>
            <a:srgbClr val="FFFFFF"/>
          </a:solidFill>
          <a:ln w="6350">
            <a:solidFill>
              <a:srgbClr val="E2E5F0"/>
            </a:solidFill>
            <a:prstDash val="solid"/>
          </a:ln>
        </p:spPr>
      </p:sp>
      <p:sp>
        <p:nvSpPr>
          <p:cNvPr id="19" name="Text 17"/>
          <p:cNvSpPr/>
          <p:nvPr/>
        </p:nvSpPr>
        <p:spPr>
          <a:xfrm>
            <a:off x="1046480" y="3799842"/>
            <a:ext cx="30417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F46E5"/>
                </a:solidFill>
                <a:latin typeface="DM Sans" pitchFamily="34" charset="0"/>
                <a:ea typeface="DM Sans" pitchFamily="34" charset="-122"/>
                <a:cs typeface="DM Sans" pitchFamily="34" charset="-120"/>
              </a:rPr>
              <a:t>Business</a:t>
            </a:r>
            <a:endParaRPr lang="en-US" sz="1600" dirty="0"/>
          </a:p>
        </p:txBody>
      </p:sp>
      <p:sp>
        <p:nvSpPr>
          <p:cNvPr id="20" name="Text 18"/>
          <p:cNvSpPr/>
          <p:nvPr/>
        </p:nvSpPr>
        <p:spPr>
          <a:xfrm>
            <a:off x="1046480" y="4145279"/>
            <a:ext cx="304174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Reply to client asks in &lt; 2 business days</a:t>
            </a:r>
            <a:endParaRPr lang="en-US" sz="1300" dirty="0"/>
          </a:p>
        </p:txBody>
      </p:sp>
      <p:sp>
        <p:nvSpPr>
          <p:cNvPr id="21" name="Text 19"/>
          <p:cNvSpPr/>
          <p:nvPr/>
        </p:nvSpPr>
        <p:spPr>
          <a:xfrm>
            <a:off x="1046480" y="4709164"/>
            <a:ext cx="318047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Pipeline review prep: 2 hrs → &lt; 10 min</a:t>
            </a:r>
            <a:endParaRPr lang="en-US" sz="1300" dirty="0"/>
          </a:p>
        </p:txBody>
      </p:sp>
      <p:sp>
        <p:nvSpPr>
          <p:cNvPr id="22" name="Text 20"/>
          <p:cNvSpPr/>
          <p:nvPr/>
        </p:nvSpPr>
        <p:spPr>
          <a:xfrm>
            <a:off x="1046480" y="5041900"/>
            <a:ext cx="3041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0 clients chasing us per month</a:t>
            </a:r>
            <a:endParaRPr lang="en-US" sz="1300" dirty="0"/>
          </a:p>
        </p:txBody>
      </p:sp>
      <p:sp>
        <p:nvSpPr>
          <p:cNvPr id="23" name="Shape 21"/>
          <p:cNvSpPr/>
          <p:nvPr/>
        </p:nvSpPr>
        <p:spPr>
          <a:xfrm>
            <a:off x="4388882" y="3569339"/>
            <a:ext cx="3414236" cy="2269490"/>
          </a:xfrm>
          <a:prstGeom prst="roundRect">
            <a:avLst>
              <a:gd name="adj" fmla="val 5456"/>
            </a:avLst>
          </a:prstGeom>
          <a:solidFill>
            <a:srgbClr val="FFFFFF"/>
          </a:solidFill>
          <a:ln w="6350">
            <a:solidFill>
              <a:srgbClr val="E2E5F0"/>
            </a:solidFill>
            <a:prstDash val="solid"/>
          </a:ln>
        </p:spPr>
      </p:sp>
      <p:sp>
        <p:nvSpPr>
          <p:cNvPr id="24" name="Text 22"/>
          <p:cNvSpPr/>
          <p:nvPr/>
        </p:nvSpPr>
        <p:spPr>
          <a:xfrm>
            <a:off x="4619387" y="3799842"/>
            <a:ext cx="30418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4F46E5"/>
                </a:solidFill>
                <a:latin typeface="DM Sans" pitchFamily="34" charset="0"/>
                <a:ea typeface="DM Sans" pitchFamily="34" charset="-122"/>
                <a:cs typeface="DM Sans" pitchFamily="34" charset="-120"/>
              </a:rPr>
              <a:t>Trust &amp; adoption</a:t>
            </a:r>
            <a:endParaRPr lang="en-US" sz="1600" dirty="0"/>
          </a:p>
        </p:txBody>
      </p:sp>
      <p:sp>
        <p:nvSpPr>
          <p:cNvPr id="25" name="Text 23"/>
          <p:cNvSpPr/>
          <p:nvPr/>
        </p:nvSpPr>
        <p:spPr>
          <a:xfrm>
            <a:off x="4619387" y="4145279"/>
            <a:ext cx="304182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 70% of AI suggestions accepted</a:t>
            </a:r>
            <a:endParaRPr lang="en-US" sz="1300" dirty="0"/>
          </a:p>
        </p:txBody>
      </p:sp>
      <p:sp>
        <p:nvSpPr>
          <p:cNvPr id="26" name="Text 24"/>
          <p:cNvSpPr/>
          <p:nvPr/>
        </p:nvSpPr>
        <p:spPr>
          <a:xfrm>
            <a:off x="4619387" y="4478021"/>
            <a:ext cx="304182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 80% 👍 on AI output</a:t>
            </a:r>
            <a:endParaRPr lang="en-US" sz="1300" dirty="0"/>
          </a:p>
        </p:txBody>
      </p:sp>
      <p:sp>
        <p:nvSpPr>
          <p:cNvPr id="27" name="Text 25"/>
          <p:cNvSpPr/>
          <p:nvPr/>
        </p:nvSpPr>
        <p:spPr>
          <a:xfrm>
            <a:off x="4619387" y="4810764"/>
            <a:ext cx="304182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Founders open it daily</a:t>
            </a:r>
            <a:endParaRPr lang="en-US" sz="1300" dirty="0"/>
          </a:p>
        </p:txBody>
      </p:sp>
      <p:sp>
        <p:nvSpPr>
          <p:cNvPr id="28" name="Shape 26"/>
          <p:cNvSpPr/>
          <p:nvPr/>
        </p:nvSpPr>
        <p:spPr>
          <a:xfrm>
            <a:off x="7961868" y="3569339"/>
            <a:ext cx="3414157" cy="2269490"/>
          </a:xfrm>
          <a:prstGeom prst="roundRect">
            <a:avLst>
              <a:gd name="adj" fmla="val 5456"/>
            </a:avLst>
          </a:prstGeom>
          <a:solidFill>
            <a:srgbClr val="FFFFFF"/>
          </a:solidFill>
          <a:ln w="6350">
            <a:solidFill>
              <a:srgbClr val="E2E5F0"/>
            </a:solidFill>
            <a:prstDash val="solid"/>
          </a:ln>
        </p:spPr>
      </p:sp>
      <p:sp>
        <p:nvSpPr>
          <p:cNvPr id="29" name="Text 27"/>
          <p:cNvSpPr/>
          <p:nvPr/>
        </p:nvSpPr>
        <p:spPr>
          <a:xfrm>
            <a:off x="8192374" y="3799842"/>
            <a:ext cx="304174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09"/>
                </a:solidFill>
                <a:latin typeface="DM Sans" pitchFamily="34" charset="0"/>
                <a:ea typeface="DM Sans" pitchFamily="34" charset="-122"/>
                <a:cs typeface="DM Sans" pitchFamily="34" charset="-120"/>
              </a:rPr>
              <a:t>Guardrail (must hold)</a:t>
            </a:r>
            <a:endParaRPr lang="en-US" sz="1600" dirty="0"/>
          </a:p>
        </p:txBody>
      </p:sp>
      <p:sp>
        <p:nvSpPr>
          <p:cNvPr id="30" name="Text 28"/>
          <p:cNvSpPr/>
          <p:nvPr/>
        </p:nvSpPr>
        <p:spPr>
          <a:xfrm>
            <a:off x="8192374" y="4145279"/>
            <a:ext cx="3041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0 actions taken without approval</a:t>
            </a:r>
            <a:endParaRPr lang="en-US" sz="1300" dirty="0"/>
          </a:p>
        </p:txBody>
      </p:sp>
      <p:sp>
        <p:nvSpPr>
          <p:cNvPr id="31" name="Text 29"/>
          <p:cNvSpPr/>
          <p:nvPr/>
        </p:nvSpPr>
        <p:spPr>
          <a:xfrm>
            <a:off x="8192374" y="44780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 98% source quotes accurate</a:t>
            </a:r>
            <a:endParaRPr lang="en-US" sz="1300" dirty="0"/>
          </a:p>
        </p:txBody>
      </p:sp>
      <p:sp>
        <p:nvSpPr>
          <p:cNvPr id="32" name="Text 30"/>
          <p:cNvSpPr/>
          <p:nvPr/>
        </p:nvSpPr>
        <p:spPr>
          <a:xfrm>
            <a:off x="8192374" y="4810764"/>
            <a:ext cx="3041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0 invented prices, dates or promises</a:t>
            </a:r>
            <a:endParaRPr lang="en-US" sz="1300" dirty="0"/>
          </a:p>
        </p:txBody>
      </p:sp>
      <p:sp>
        <p:nvSpPr>
          <p:cNvPr id="33" name="Text 3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12 · Revenue impact is tracked by the founders, not claimed by the tool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PROOF · EVALUATION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Tested against AtliQ's own answer key: 12 / 12 pass</a:t>
            </a:r>
            <a:endParaRPr lang="en-US" sz="3200" dirty="0"/>
          </a:p>
        </p:txBody>
      </p:sp>
      <p:sp>
        <p:nvSpPr>
          <p:cNvPr id="4" name="Shape 2"/>
          <p:cNvSpPr/>
          <p:nvPr/>
        </p:nvSpPr>
        <p:spPr>
          <a:xfrm>
            <a:off x="815975" y="1882775"/>
            <a:ext cx="2059464" cy="1688465"/>
          </a:xfrm>
          <a:prstGeom prst="roundRect">
            <a:avLst>
              <a:gd name="adj" fmla="val 7334"/>
            </a:avLst>
          </a:prstGeom>
          <a:solidFill>
            <a:srgbClr val="FFFFFF"/>
          </a:solidFill>
          <a:ln w="6350">
            <a:solidFill>
              <a:srgbClr val="E2E5F0"/>
            </a:solidFill>
            <a:prstDash val="solid"/>
          </a:ln>
        </p:spPr>
      </p:sp>
      <p:sp>
        <p:nvSpPr>
          <p:cNvPr id="5" name="Text 3"/>
          <p:cNvSpPr/>
          <p:nvPr/>
        </p:nvSpPr>
        <p:spPr>
          <a:xfrm>
            <a:off x="995680" y="2062479"/>
            <a:ext cx="175105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46E5"/>
                </a:solidFill>
                <a:latin typeface="DM Sans" pitchFamily="34" charset="0"/>
                <a:ea typeface="DM Sans" pitchFamily="34" charset="-122"/>
                <a:cs typeface="DM Sans" pitchFamily="34" charset="-120"/>
              </a:rPr>
              <a:t>30/30</a:t>
            </a:r>
            <a:endParaRPr lang="en-US" sz="3200" dirty="0"/>
          </a:p>
        </p:txBody>
      </p:sp>
      <p:sp>
        <p:nvSpPr>
          <p:cNvPr id="6" name="Text 4"/>
          <p:cNvSpPr/>
          <p:nvPr/>
        </p:nvSpPr>
        <p:spPr>
          <a:xfrm>
            <a:off x="995680" y="2682242"/>
            <a:ext cx="175105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9"/>
                </a:solidFill>
                <a:latin typeface="DM Sans" pitchFamily="34" charset="0"/>
                <a:ea typeface="DM Sans" pitchFamily="34" charset="-122"/>
                <a:cs typeface="DM Sans" pitchFamily="34" charset="-120"/>
              </a:rPr>
              <a:t>Known asks &amp; promises found</a:t>
            </a:r>
            <a:endParaRPr lang="en-US" sz="1300" dirty="0"/>
          </a:p>
        </p:txBody>
      </p:sp>
      <p:sp>
        <p:nvSpPr>
          <p:cNvPr id="7" name="Shape 5"/>
          <p:cNvSpPr/>
          <p:nvPr/>
        </p:nvSpPr>
        <p:spPr>
          <a:xfrm>
            <a:off x="3008789" y="1882775"/>
            <a:ext cx="2059543" cy="1688465"/>
          </a:xfrm>
          <a:prstGeom prst="roundRect">
            <a:avLst>
              <a:gd name="adj" fmla="val 7334"/>
            </a:avLst>
          </a:prstGeom>
          <a:solidFill>
            <a:srgbClr val="FFFFFF"/>
          </a:solidFill>
          <a:ln w="6350">
            <a:solidFill>
              <a:srgbClr val="E2E5F0"/>
            </a:solidFill>
            <a:prstDash val="solid"/>
          </a:ln>
        </p:spPr>
      </p:sp>
      <p:sp>
        <p:nvSpPr>
          <p:cNvPr id="8" name="Text 6"/>
          <p:cNvSpPr/>
          <p:nvPr/>
        </p:nvSpPr>
        <p:spPr>
          <a:xfrm>
            <a:off x="3188494" y="2062479"/>
            <a:ext cx="1751137"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46E5"/>
                </a:solidFill>
                <a:latin typeface="DM Sans" pitchFamily="34" charset="0"/>
                <a:ea typeface="DM Sans" pitchFamily="34" charset="-122"/>
                <a:cs typeface="DM Sans" pitchFamily="34" charset="-120"/>
              </a:rPr>
              <a:t>124/124</a:t>
            </a:r>
            <a:endParaRPr lang="en-US" sz="3200" dirty="0"/>
          </a:p>
        </p:txBody>
      </p:sp>
      <p:sp>
        <p:nvSpPr>
          <p:cNvPr id="9" name="Text 7"/>
          <p:cNvSpPr/>
          <p:nvPr/>
        </p:nvSpPr>
        <p:spPr>
          <a:xfrm>
            <a:off x="3188494" y="2682242"/>
            <a:ext cx="1751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9"/>
                </a:solidFill>
                <a:latin typeface="DM Sans" pitchFamily="34" charset="0"/>
                <a:ea typeface="DM Sans" pitchFamily="34" charset="-122"/>
                <a:cs typeface="DM Sans" pitchFamily="34" charset="-120"/>
              </a:rPr>
              <a:t>Source quotes verified word for word</a:t>
            </a:r>
            <a:endParaRPr lang="en-US" sz="1300" dirty="0"/>
          </a:p>
        </p:txBody>
      </p:sp>
      <p:sp>
        <p:nvSpPr>
          <p:cNvPr id="10" name="Shape 8"/>
          <p:cNvSpPr/>
          <p:nvPr/>
        </p:nvSpPr>
        <p:spPr>
          <a:xfrm>
            <a:off x="5201682" y="1882775"/>
            <a:ext cx="2059464" cy="1688465"/>
          </a:xfrm>
          <a:prstGeom prst="roundRect">
            <a:avLst>
              <a:gd name="adj" fmla="val 7334"/>
            </a:avLst>
          </a:prstGeom>
          <a:solidFill>
            <a:srgbClr val="FFFFFF"/>
          </a:solidFill>
          <a:ln w="6350">
            <a:solidFill>
              <a:srgbClr val="E2E5F0"/>
            </a:solidFill>
            <a:prstDash val="solid"/>
          </a:ln>
        </p:spPr>
      </p:sp>
      <p:sp>
        <p:nvSpPr>
          <p:cNvPr id="11" name="Text 9"/>
          <p:cNvSpPr/>
          <p:nvPr/>
        </p:nvSpPr>
        <p:spPr>
          <a:xfrm>
            <a:off x="5381387" y="2062479"/>
            <a:ext cx="175105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46E5"/>
                </a:solidFill>
                <a:latin typeface="DM Sans" pitchFamily="34" charset="0"/>
                <a:ea typeface="DM Sans" pitchFamily="34" charset="-122"/>
                <a:cs typeface="DM Sans" pitchFamily="34" charset="-120"/>
              </a:rPr>
              <a:t>5/5</a:t>
            </a:r>
            <a:endParaRPr lang="en-US" sz="3200" dirty="0"/>
          </a:p>
        </p:txBody>
      </p:sp>
      <p:sp>
        <p:nvSpPr>
          <p:cNvPr id="12" name="Text 10"/>
          <p:cNvSpPr/>
          <p:nvPr/>
        </p:nvSpPr>
        <p:spPr>
          <a:xfrm>
            <a:off x="5381387" y="2682242"/>
            <a:ext cx="175105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9"/>
                </a:solidFill>
                <a:latin typeface="DM Sans" pitchFamily="34" charset="0"/>
                <a:ea typeface="DM Sans" pitchFamily="34" charset="-122"/>
                <a:cs typeface="DM Sans" pitchFamily="34" charset="-120"/>
              </a:rPr>
              <a:t>Missing leads found in inboxes</a:t>
            </a:r>
            <a:endParaRPr lang="en-US" sz="1300" dirty="0"/>
          </a:p>
        </p:txBody>
      </p:sp>
      <p:sp>
        <p:nvSpPr>
          <p:cNvPr id="13" name="Shape 11"/>
          <p:cNvSpPr/>
          <p:nvPr/>
        </p:nvSpPr>
        <p:spPr>
          <a:xfrm>
            <a:off x="815975" y="3704592"/>
            <a:ext cx="2059464" cy="2134235"/>
          </a:xfrm>
          <a:prstGeom prst="roundRect">
            <a:avLst>
              <a:gd name="adj" fmla="val 6012"/>
            </a:avLst>
          </a:prstGeom>
          <a:solidFill>
            <a:srgbClr val="FFFFFF"/>
          </a:solidFill>
          <a:ln w="6350">
            <a:solidFill>
              <a:srgbClr val="E2E5F0"/>
            </a:solidFill>
            <a:prstDash val="solid"/>
          </a:ln>
        </p:spPr>
      </p:sp>
      <p:sp>
        <p:nvSpPr>
          <p:cNvPr id="14" name="Text 12"/>
          <p:cNvSpPr/>
          <p:nvPr/>
        </p:nvSpPr>
        <p:spPr>
          <a:xfrm>
            <a:off x="995680" y="3884296"/>
            <a:ext cx="175105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46E5"/>
                </a:solidFill>
                <a:latin typeface="DM Sans" pitchFamily="34" charset="0"/>
                <a:ea typeface="DM Sans" pitchFamily="34" charset="-122"/>
                <a:cs typeface="DM Sans" pitchFamily="34" charset="-120"/>
              </a:rPr>
              <a:t>4/4</a:t>
            </a:r>
            <a:endParaRPr lang="en-US" sz="3200" dirty="0"/>
          </a:p>
        </p:txBody>
      </p:sp>
      <p:sp>
        <p:nvSpPr>
          <p:cNvPr id="15" name="Text 13"/>
          <p:cNvSpPr/>
          <p:nvPr/>
        </p:nvSpPr>
        <p:spPr>
          <a:xfrm>
            <a:off x="995680" y="4504054"/>
            <a:ext cx="175105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9"/>
                </a:solidFill>
                <a:latin typeface="DM Sans" pitchFamily="34" charset="0"/>
                <a:ea typeface="DM Sans" pitchFamily="34" charset="-122"/>
                <a:cs typeface="DM Sans" pitchFamily="34" charset="-120"/>
              </a:rPr>
              <a:t>Buried deadlines dated correctly</a:t>
            </a:r>
            <a:endParaRPr lang="en-US" sz="1300" dirty="0"/>
          </a:p>
        </p:txBody>
      </p:sp>
      <p:sp>
        <p:nvSpPr>
          <p:cNvPr id="16" name="Shape 14"/>
          <p:cNvSpPr/>
          <p:nvPr/>
        </p:nvSpPr>
        <p:spPr>
          <a:xfrm>
            <a:off x="3008789" y="3704592"/>
            <a:ext cx="2059543" cy="2134235"/>
          </a:xfrm>
          <a:prstGeom prst="roundRect">
            <a:avLst>
              <a:gd name="adj" fmla="val 6012"/>
            </a:avLst>
          </a:prstGeom>
          <a:solidFill>
            <a:srgbClr val="FFFFFF"/>
          </a:solidFill>
          <a:ln w="6350">
            <a:solidFill>
              <a:srgbClr val="E2E5F0"/>
            </a:solidFill>
            <a:prstDash val="solid"/>
          </a:ln>
        </p:spPr>
      </p:sp>
      <p:sp>
        <p:nvSpPr>
          <p:cNvPr id="17" name="Text 15"/>
          <p:cNvSpPr/>
          <p:nvPr/>
        </p:nvSpPr>
        <p:spPr>
          <a:xfrm>
            <a:off x="3188494" y="3884296"/>
            <a:ext cx="1751137"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46E5"/>
                </a:solidFill>
                <a:latin typeface="DM Sans" pitchFamily="34" charset="0"/>
                <a:ea typeface="DM Sans" pitchFamily="34" charset="-122"/>
                <a:cs typeface="DM Sans" pitchFamily="34" charset="-120"/>
              </a:rPr>
              <a:t>#1</a:t>
            </a:r>
            <a:endParaRPr lang="en-US" sz="3200" dirty="0"/>
          </a:p>
        </p:txBody>
      </p:sp>
      <p:sp>
        <p:nvSpPr>
          <p:cNvPr id="18" name="Text 16"/>
          <p:cNvSpPr/>
          <p:nvPr/>
        </p:nvSpPr>
        <p:spPr>
          <a:xfrm>
            <a:off x="3188494" y="4504054"/>
            <a:ext cx="1751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9"/>
                </a:solidFill>
                <a:latin typeface="DM Sans" pitchFamily="34" charset="0"/>
                <a:ea typeface="DM Sans" pitchFamily="34" charset="-122"/>
                <a:cs typeface="DM Sans" pitchFamily="34" charset="-120"/>
              </a:rPr>
              <a:t>FinEdge ranked top of the list</a:t>
            </a:r>
            <a:endParaRPr lang="en-US" sz="1300" dirty="0"/>
          </a:p>
        </p:txBody>
      </p:sp>
      <p:sp>
        <p:nvSpPr>
          <p:cNvPr id="19" name="Shape 17"/>
          <p:cNvSpPr/>
          <p:nvPr/>
        </p:nvSpPr>
        <p:spPr>
          <a:xfrm>
            <a:off x="5201682" y="3704592"/>
            <a:ext cx="2059464" cy="2134235"/>
          </a:xfrm>
          <a:prstGeom prst="roundRect">
            <a:avLst>
              <a:gd name="adj" fmla="val 6012"/>
            </a:avLst>
          </a:prstGeom>
          <a:solidFill>
            <a:srgbClr val="FFFFFF"/>
          </a:solidFill>
          <a:ln w="6350">
            <a:solidFill>
              <a:srgbClr val="E2E5F0"/>
            </a:solidFill>
            <a:prstDash val="solid"/>
          </a:ln>
        </p:spPr>
      </p:sp>
      <p:sp>
        <p:nvSpPr>
          <p:cNvPr id="20" name="Text 18"/>
          <p:cNvSpPr/>
          <p:nvPr/>
        </p:nvSpPr>
        <p:spPr>
          <a:xfrm>
            <a:off x="5381387" y="3884296"/>
            <a:ext cx="1751055"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4F46E5"/>
                </a:solidFill>
                <a:latin typeface="DM Sans" pitchFamily="34" charset="0"/>
                <a:ea typeface="DM Sans" pitchFamily="34" charset="-122"/>
                <a:cs typeface="DM Sans" pitchFamily="34" charset="-120"/>
              </a:rPr>
              <a:t>Top 6</a:t>
            </a:r>
            <a:endParaRPr lang="en-US" sz="3200" dirty="0"/>
          </a:p>
        </p:txBody>
      </p:sp>
      <p:sp>
        <p:nvSpPr>
          <p:cNvPr id="21" name="Text 19"/>
          <p:cNvSpPr/>
          <p:nvPr/>
        </p:nvSpPr>
        <p:spPr>
          <a:xfrm>
            <a:off x="5381387" y="4504054"/>
            <a:ext cx="1751055"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9"/>
                </a:solidFill>
                <a:latin typeface="DM Sans" pitchFamily="34" charset="0"/>
                <a:ea typeface="DM Sans" pitchFamily="34" charset="-122"/>
                <a:cs typeface="DM Sans" pitchFamily="34" charset="-120"/>
              </a:rPr>
              <a:t>ShopSwift #2 · Meridian #4 · HealthFirst #5 · NovaPharma #6</a:t>
            </a:r>
            <a:endParaRPr lang="en-US" sz="1300" dirty="0"/>
          </a:p>
        </p:txBody>
      </p:sp>
      <p:sp>
        <p:nvSpPr>
          <p:cNvPr id="22" name="Shape 20"/>
          <p:cNvSpPr/>
          <p:nvPr/>
        </p:nvSpPr>
        <p:spPr>
          <a:xfrm>
            <a:off x="7569200" y="1879600"/>
            <a:ext cx="3810000" cy="3962400"/>
          </a:xfrm>
          <a:prstGeom prst="roundRect">
            <a:avLst>
              <a:gd name="adj" fmla="val 3333"/>
            </a:avLst>
          </a:prstGeom>
          <a:solidFill>
            <a:srgbClr val="141A33"/>
          </a:solidFill>
          <a:ln/>
        </p:spPr>
      </p:sp>
      <p:sp>
        <p:nvSpPr>
          <p:cNvPr id="23" name="Text 21"/>
          <p:cNvSpPr/>
          <p:nvPr/>
        </p:nvSpPr>
        <p:spPr>
          <a:xfrm>
            <a:off x="7823200" y="2133600"/>
            <a:ext cx="34010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BF24"/>
                </a:solidFill>
                <a:latin typeface="DM Sans" pitchFamily="34" charset="0"/>
                <a:ea typeface="DM Sans" pitchFamily="34" charset="-122"/>
                <a:cs typeface="DM Sans" pitchFamily="34" charset="-120"/>
              </a:rPr>
              <a:t>What the evals caught</a:t>
            </a:r>
            <a:endParaRPr lang="en-US" sz="1600" dirty="0"/>
          </a:p>
        </p:txBody>
      </p:sp>
      <p:sp>
        <p:nvSpPr>
          <p:cNvPr id="24" name="Text 22"/>
          <p:cNvSpPr/>
          <p:nvPr/>
        </p:nvSpPr>
        <p:spPr>
          <a:xfrm>
            <a:off x="7823200" y="2529842"/>
            <a:ext cx="3401060" cy="74358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E4E7F5"/>
                </a:solidFill>
                <a:latin typeface="DM Sans" pitchFamily="34" charset="0"/>
                <a:ea typeface="DM Sans" pitchFamily="34" charset="-122"/>
                <a:cs typeface="DM Sans" pitchFamily="34" charset="-120"/>
              </a:rPr>
              <a:t>Hallucination:</a:t>
            </a:r>
            <a:r>
              <a:rPr lang="en-US" sz="1300" dirty="0">
                <a:solidFill>
                  <a:srgbClr val="E4E7F5"/>
                </a:solidFill>
                <a:latin typeface="DM Sans" pitchFamily="34" charset="0"/>
                <a:ea typeface="DM Sans" pitchFamily="34" charset="-122"/>
                <a:cs typeface="DM Sans" pitchFamily="34" charset="-120"/>
              </a:rPr>
              <a:t> a draft invented "HL7" and a "UAT" date. Fixed with a [TBD] rule and a numbers check.</a:t>
            </a:r>
            <a:endParaRPr lang="en-US" sz="1300" dirty="0"/>
          </a:p>
        </p:txBody>
      </p:sp>
      <p:sp>
        <p:nvSpPr>
          <p:cNvPr id="25" name="Text 23"/>
          <p:cNvSpPr/>
          <p:nvPr/>
        </p:nvSpPr>
        <p:spPr>
          <a:xfrm>
            <a:off x="7823200" y="3400425"/>
            <a:ext cx="3401060"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E4E7F5"/>
                </a:solidFill>
                <a:latin typeface="DM Sans" pitchFamily="34" charset="0"/>
                <a:ea typeface="DM Sans" pitchFamily="34" charset="-122"/>
                <a:cs typeface="DM Sans" pitchFamily="34" charset="-120"/>
              </a:rPr>
              <a:t>Ranking:</a:t>
            </a:r>
            <a:r>
              <a:rPr lang="en-US" sz="1300" dirty="0">
                <a:solidFill>
                  <a:srgbClr val="E4E7F5"/>
                </a:solidFill>
                <a:latin typeface="DM Sans" pitchFamily="34" charset="0"/>
                <a:ea typeface="DM Sans" pitchFamily="34" charset="-122"/>
                <a:cs typeface="DM Sans" pitchFamily="34" charset="-120"/>
              </a:rPr>
              <a:t> ShopSwift first came out at #87. Reweighted → #2.</a:t>
            </a:r>
            <a:endParaRPr lang="en-US" sz="1300" dirty="0"/>
          </a:p>
        </p:txBody>
      </p:sp>
      <p:sp>
        <p:nvSpPr>
          <p:cNvPr id="26" name="Text 24"/>
          <p:cNvSpPr/>
          <p:nvPr/>
        </p:nvSpPr>
        <p:spPr>
          <a:xfrm>
            <a:off x="7823200" y="4031617"/>
            <a:ext cx="3401060" cy="743585"/>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E4E7F5"/>
                </a:solidFill>
                <a:latin typeface="DM Sans" pitchFamily="34" charset="0"/>
                <a:ea typeface="DM Sans" pitchFamily="34" charset="-122"/>
                <a:cs typeface="DM Sans" pitchFamily="34" charset="-120"/>
              </a:rPr>
              <a:t>False alarm:</a:t>
            </a:r>
            <a:r>
              <a:rPr lang="en-US" sz="1300" dirty="0">
                <a:solidFill>
                  <a:srgbClr val="E4E7F5"/>
                </a:solidFill>
                <a:latin typeface="DM Sans" pitchFamily="34" charset="0"/>
                <a:ea typeface="DM Sans" pitchFamily="34" charset="-122"/>
                <a:cs typeface="DM Sans" pitchFamily="34" charset="-120"/>
              </a:rPr>
              <a:t> GlobalMart was flagged as "silent" while AtliQ owed the action. Rule fixed.</a:t>
            </a:r>
            <a:endParaRPr lang="en-US" sz="1300" dirty="0"/>
          </a:p>
        </p:txBody>
      </p:sp>
      <p:sp>
        <p:nvSpPr>
          <p:cNvPr id="27" name="Text 2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13 · scripts/eval.ts runs on every pipeline build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RISKS &amp; GUARDRAILS</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9 failure modes, each with a guardrail in the build</a:t>
            </a:r>
            <a:endParaRPr lang="en-US" sz="3200" dirty="0"/>
          </a:p>
        </p:txBody>
      </p:sp>
      <p:sp>
        <p:nvSpPr>
          <p:cNvPr id="4" name="Shape 2"/>
          <p:cNvSpPr/>
          <p:nvPr/>
        </p:nvSpPr>
        <p:spPr>
          <a:xfrm>
            <a:off x="815975" y="1882775"/>
            <a:ext cx="3414157" cy="3402330"/>
          </a:xfrm>
          <a:prstGeom prst="roundRect">
            <a:avLst>
              <a:gd name="adj" fmla="val 3639"/>
            </a:avLst>
          </a:prstGeom>
          <a:solidFill>
            <a:srgbClr val="FFFFFF"/>
          </a:solidFill>
          <a:ln w="6350">
            <a:solidFill>
              <a:srgbClr val="E2E5F0"/>
            </a:solidFill>
            <a:prstDash val="solid"/>
          </a:ln>
        </p:spPr>
      </p:sp>
      <p:sp>
        <p:nvSpPr>
          <p:cNvPr id="5" name="Text 3"/>
          <p:cNvSpPr/>
          <p:nvPr/>
        </p:nvSpPr>
        <p:spPr>
          <a:xfrm>
            <a:off x="1046480" y="2113279"/>
            <a:ext cx="304174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DM Sans" pitchFamily="34" charset="0"/>
                <a:ea typeface="DM Sans" pitchFamily="34" charset="-122"/>
                <a:cs typeface="DM Sans" pitchFamily="34" charset="-120"/>
              </a:rPr>
              <a:t>Grounding</a:t>
            </a:r>
            <a:endParaRPr lang="en-US" sz="1700" dirty="0"/>
          </a:p>
        </p:txBody>
      </p:sp>
      <p:sp>
        <p:nvSpPr>
          <p:cNvPr id="6" name="Text 4"/>
          <p:cNvSpPr/>
          <p:nvPr/>
        </p:nvSpPr>
        <p:spPr>
          <a:xfrm>
            <a:off x="1046480" y="2499364"/>
            <a:ext cx="3041741"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Hallucination</a:t>
            </a:r>
            <a:r>
              <a:rPr lang="en-US" sz="1300" dirty="0">
                <a:solidFill>
                  <a:srgbClr val="3D4459"/>
                </a:solidFill>
                <a:latin typeface="DM Sans" pitchFamily="34" charset="0"/>
                <a:ea typeface="DM Sans" pitchFamily="34" charset="-122"/>
                <a:cs typeface="DM Sans" pitchFamily="34" charset="-120"/>
              </a:rPr>
              <a:t> → every item needs a verbatim quote; code drops any it can't find</a:t>
            </a:r>
            <a:endParaRPr lang="en-US" sz="1300" dirty="0"/>
          </a:p>
        </p:txBody>
      </p:sp>
      <p:sp>
        <p:nvSpPr>
          <p:cNvPr id="7" name="Text 5"/>
          <p:cNvSpPr/>
          <p:nvPr/>
        </p:nvSpPr>
        <p:spPr>
          <a:xfrm>
            <a:off x="1046480" y="3319779"/>
            <a:ext cx="3041741"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Invented facts in drafts</a:t>
            </a:r>
            <a:r>
              <a:rPr lang="en-US" sz="1300" dirty="0">
                <a:solidFill>
                  <a:srgbClr val="3D4459"/>
                </a:solidFill>
                <a:latin typeface="DM Sans" pitchFamily="34" charset="0"/>
                <a:ea typeface="DM Sans" pitchFamily="34" charset="-122"/>
                <a:cs typeface="DM Sans" pitchFamily="34" charset="-120"/>
              </a:rPr>
              <a:t> → [TBD] for unknowns; numbers checked against source</a:t>
            </a:r>
            <a:endParaRPr lang="en-US" sz="1300" dirty="0"/>
          </a:p>
        </p:txBody>
      </p:sp>
      <p:sp>
        <p:nvSpPr>
          <p:cNvPr id="8" name="Text 6"/>
          <p:cNvSpPr/>
          <p:nvPr/>
        </p:nvSpPr>
        <p:spPr>
          <a:xfrm>
            <a:off x="1046480" y="4140200"/>
            <a:ext cx="304174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Wrong dates</a:t>
            </a:r>
            <a:r>
              <a:rPr lang="en-US" sz="1300" dirty="0">
                <a:solidFill>
                  <a:srgbClr val="3D4459"/>
                </a:solidFill>
                <a:latin typeface="DM Sans" pitchFamily="34" charset="0"/>
                <a:ea typeface="DM Sans" pitchFamily="34" charset="-122"/>
                <a:cs typeface="DM Sans" pitchFamily="34" charset="-120"/>
              </a:rPr>
              <a:t> → AI quotes the phrase, code works out the date</a:t>
            </a:r>
            <a:endParaRPr lang="en-US" sz="1300" dirty="0"/>
          </a:p>
        </p:txBody>
      </p:sp>
      <p:sp>
        <p:nvSpPr>
          <p:cNvPr id="9" name="Shape 7"/>
          <p:cNvSpPr/>
          <p:nvPr/>
        </p:nvSpPr>
        <p:spPr>
          <a:xfrm>
            <a:off x="4388882" y="1882775"/>
            <a:ext cx="3414236" cy="3402330"/>
          </a:xfrm>
          <a:prstGeom prst="roundRect">
            <a:avLst>
              <a:gd name="adj" fmla="val 3639"/>
            </a:avLst>
          </a:prstGeom>
          <a:solidFill>
            <a:srgbClr val="FFFFFF"/>
          </a:solidFill>
          <a:ln w="6350">
            <a:solidFill>
              <a:srgbClr val="E2E5F0"/>
            </a:solidFill>
            <a:prstDash val="solid"/>
          </a:ln>
        </p:spPr>
      </p:sp>
      <p:sp>
        <p:nvSpPr>
          <p:cNvPr id="10" name="Text 8"/>
          <p:cNvSpPr/>
          <p:nvPr/>
        </p:nvSpPr>
        <p:spPr>
          <a:xfrm>
            <a:off x="4619387" y="2113279"/>
            <a:ext cx="304182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DM Sans" pitchFamily="34" charset="0"/>
                <a:ea typeface="DM Sans" pitchFamily="34" charset="-122"/>
                <a:cs typeface="DM Sans" pitchFamily="34" charset="-120"/>
              </a:rPr>
              <a:t>Human control</a:t>
            </a:r>
            <a:endParaRPr lang="en-US" sz="1700" dirty="0"/>
          </a:p>
        </p:txBody>
      </p:sp>
      <p:sp>
        <p:nvSpPr>
          <p:cNvPr id="11" name="Text 9"/>
          <p:cNvSpPr/>
          <p:nvPr/>
        </p:nvSpPr>
        <p:spPr>
          <a:xfrm>
            <a:off x="4619387" y="2499364"/>
            <a:ext cx="304182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Autonomous action</a:t>
            </a:r>
            <a:r>
              <a:rPr lang="en-US" sz="1300" dirty="0">
                <a:solidFill>
                  <a:srgbClr val="3D4459"/>
                </a:solidFill>
                <a:latin typeface="DM Sans" pitchFamily="34" charset="0"/>
                <a:ea typeface="DM Sans" pitchFamily="34" charset="-122"/>
                <a:cs typeface="DM Sans" pitchFamily="34" charset="-120"/>
              </a:rPr>
              <a:t> → AI never sends, moves a stage or deletes</a:t>
            </a:r>
            <a:endParaRPr lang="en-US" sz="1300" dirty="0"/>
          </a:p>
        </p:txBody>
      </p:sp>
      <p:sp>
        <p:nvSpPr>
          <p:cNvPr id="12" name="Text 10"/>
          <p:cNvSpPr/>
          <p:nvPr/>
        </p:nvSpPr>
        <p:spPr>
          <a:xfrm>
            <a:off x="4619387" y="3088642"/>
            <a:ext cx="304182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Wrong merge</a:t>
            </a:r>
            <a:r>
              <a:rPr lang="en-US" sz="1300" dirty="0">
                <a:solidFill>
                  <a:srgbClr val="3D4459"/>
                </a:solidFill>
                <a:latin typeface="DM Sans" pitchFamily="34" charset="0"/>
                <a:ea typeface="DM Sans" pitchFamily="34" charset="-122"/>
                <a:cs typeface="DM Sans" pitchFamily="34" charset="-120"/>
              </a:rPr>
              <a:t> → duplicates flagged, merged only by a person</a:t>
            </a:r>
            <a:endParaRPr lang="en-US" sz="1300" dirty="0"/>
          </a:p>
        </p:txBody>
      </p:sp>
      <p:sp>
        <p:nvSpPr>
          <p:cNvPr id="13" name="Text 11"/>
          <p:cNvSpPr/>
          <p:nvPr/>
        </p:nvSpPr>
        <p:spPr>
          <a:xfrm>
            <a:off x="4619387" y="3677921"/>
            <a:ext cx="3041823"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Over-trust</a:t>
            </a:r>
            <a:r>
              <a:rPr lang="en-US" sz="1300" dirty="0">
                <a:solidFill>
                  <a:srgbClr val="3D4459"/>
                </a:solidFill>
                <a:latin typeface="DM Sans" pitchFamily="34" charset="0"/>
                <a:ea typeface="DM Sans" pitchFamily="34" charset="-122"/>
                <a:cs typeface="DM Sans" pitchFamily="34" charset="-120"/>
              </a:rPr>
              <a:t> → "✦ AI" labels, sources one tap away, 👍/👎 feedback</a:t>
            </a:r>
            <a:endParaRPr lang="en-US" sz="1300" dirty="0"/>
          </a:p>
        </p:txBody>
      </p:sp>
      <p:sp>
        <p:nvSpPr>
          <p:cNvPr id="14" name="Shape 12"/>
          <p:cNvSpPr/>
          <p:nvPr/>
        </p:nvSpPr>
        <p:spPr>
          <a:xfrm>
            <a:off x="7961868" y="1882775"/>
            <a:ext cx="3414157" cy="3402330"/>
          </a:xfrm>
          <a:prstGeom prst="roundRect">
            <a:avLst>
              <a:gd name="adj" fmla="val 3639"/>
            </a:avLst>
          </a:prstGeom>
          <a:solidFill>
            <a:srgbClr val="FFFFFF"/>
          </a:solidFill>
          <a:ln w="6350">
            <a:solidFill>
              <a:srgbClr val="E2E5F0"/>
            </a:solidFill>
            <a:prstDash val="solid"/>
          </a:ln>
        </p:spPr>
      </p:sp>
      <p:sp>
        <p:nvSpPr>
          <p:cNvPr id="15" name="Text 13"/>
          <p:cNvSpPr/>
          <p:nvPr/>
        </p:nvSpPr>
        <p:spPr>
          <a:xfrm>
            <a:off x="8192374" y="2113279"/>
            <a:ext cx="304174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A33"/>
                </a:solidFill>
                <a:latin typeface="DM Sans" pitchFamily="34" charset="0"/>
                <a:ea typeface="DM Sans" pitchFamily="34" charset="-122"/>
                <a:cs typeface="DM Sans" pitchFamily="34" charset="-120"/>
              </a:rPr>
              <a:t>Privacy &amp; security</a:t>
            </a:r>
            <a:endParaRPr lang="en-US" sz="1700" dirty="0"/>
          </a:p>
        </p:txBody>
      </p:sp>
      <p:sp>
        <p:nvSpPr>
          <p:cNvPr id="16" name="Text 14"/>
          <p:cNvSpPr/>
          <p:nvPr/>
        </p:nvSpPr>
        <p:spPr>
          <a:xfrm>
            <a:off x="8192374" y="2499364"/>
            <a:ext cx="304174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Prompt injection</a:t>
            </a:r>
            <a:r>
              <a:rPr lang="en-US" sz="1300" dirty="0">
                <a:solidFill>
                  <a:srgbClr val="3D4459"/>
                </a:solidFill>
                <a:latin typeface="DM Sans" pitchFamily="34" charset="0"/>
                <a:ea typeface="DM Sans" pitchFamily="34" charset="-122"/>
                <a:cs typeface="DM Sans" pitchFamily="34" charset="-120"/>
              </a:rPr>
              <a:t> → email text is data, never instructions</a:t>
            </a:r>
            <a:endParaRPr lang="en-US" sz="1300" dirty="0"/>
          </a:p>
        </p:txBody>
      </p:sp>
      <p:sp>
        <p:nvSpPr>
          <p:cNvPr id="17" name="Text 15"/>
          <p:cNvSpPr/>
          <p:nvPr/>
        </p:nvSpPr>
        <p:spPr>
          <a:xfrm>
            <a:off x="8192374" y="3088642"/>
            <a:ext cx="304174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Data exposure</a:t>
            </a:r>
            <a:r>
              <a:rPr lang="en-US" sz="1300" dirty="0">
                <a:solidFill>
                  <a:srgbClr val="3D4459"/>
                </a:solidFill>
                <a:latin typeface="DM Sans" pitchFamily="34" charset="0"/>
                <a:ea typeface="DM Sans" pitchFamily="34" charset="-122"/>
                <a:cs typeface="DM Sans" pitchFamily="34" charset="-120"/>
              </a:rPr>
              <a:t> → API key server-side only; input size limits</a:t>
            </a:r>
            <a:endParaRPr lang="en-US" sz="1300" dirty="0"/>
          </a:p>
        </p:txBody>
      </p:sp>
      <p:sp>
        <p:nvSpPr>
          <p:cNvPr id="18" name="Text 16"/>
          <p:cNvSpPr/>
          <p:nvPr/>
        </p:nvSpPr>
        <p:spPr>
          <a:xfrm>
            <a:off x="8192374" y="3677921"/>
            <a:ext cx="304174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9"/>
                </a:solidFill>
                <a:latin typeface="DM Sans" pitchFamily="34" charset="0"/>
                <a:ea typeface="DM Sans" pitchFamily="34" charset="-122"/>
                <a:cs typeface="DM Sans" pitchFamily="34" charset="-120"/>
              </a:rPr>
              <a:t>Recording consent</a:t>
            </a:r>
            <a:r>
              <a:rPr lang="en-US" sz="1300" dirty="0">
                <a:solidFill>
                  <a:srgbClr val="3D4459"/>
                </a:solidFill>
                <a:latin typeface="DM Sans" pitchFamily="34" charset="0"/>
                <a:ea typeface="DM Sans" pitchFamily="34" charset="-122"/>
                <a:cs typeface="DM Sans" pitchFamily="34" charset="-120"/>
              </a:rPr>
              <a:t> → record only with the client's agreement</a:t>
            </a:r>
            <a:endParaRPr lang="en-US" sz="1300" dirty="0"/>
          </a:p>
        </p:txBody>
      </p:sp>
      <p:sp>
        <p:nvSpPr>
          <p:cNvPr id="19" name="Text 17"/>
          <p:cNvSpPr/>
          <p:nvPr/>
        </p:nvSpPr>
        <p:spPr>
          <a:xfrm>
            <a:off x="812800" y="55930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A33"/>
                </a:solidFill>
                <a:latin typeface="DM Sans" pitchFamily="34" charset="0"/>
                <a:ea typeface="DM Sans" pitchFamily="34" charset="-122"/>
                <a:cs typeface="DM Sans" pitchFamily="34" charset="-120"/>
              </a:rPr>
              <a:t>Designed with </a:t>
            </a:r>
            <a:r>
              <a:rPr lang="en-US" sz="1400" b="1" dirty="0">
                <a:solidFill>
                  <a:srgbClr val="141A33"/>
                </a:solidFill>
                <a:latin typeface="DM Sans" pitchFamily="34" charset="0"/>
                <a:ea typeface="DM Sans" pitchFamily="34" charset="-122"/>
                <a:cs typeface="DM Sans" pitchFamily="34" charset="-120"/>
              </a:rPr>
              <a:t>Microsoft's 18 HAX guidelines</a:t>
            </a:r>
            <a:r>
              <a:rPr lang="en-US" sz="1400" dirty="0">
                <a:solidFill>
                  <a:srgbClr val="141A33"/>
                </a:solidFill>
                <a:latin typeface="DM Sans" pitchFamily="34" charset="0"/>
                <a:ea typeface="DM Sans" pitchFamily="34" charset="-122"/>
                <a:cs typeface="DM Sans" pitchFamily="34" charset="-120"/>
              </a:rPr>
              <a:t> — an in-app "How this AI works" page explains what it can and can't do.</a:t>
            </a:r>
            <a:endParaRPr lang="en-US" sz="1400" dirty="0"/>
          </a:p>
        </p:txBody>
      </p:sp>
      <p:sp>
        <p:nvSpPr>
          <p:cNvPr id="20" name="Text 1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14 · Full table in the AI PRD (V1.1), guardrails section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46E5"/>
                </a:solidFill>
                <a:latin typeface="DM Sans" pitchFamily="34" charset="0"/>
                <a:ea typeface="DM Sans" pitchFamily="34" charset="-122"/>
                <a:cs typeface="DM Sans" pitchFamily="34" charset="-120"/>
              </a:rPr>
              <a:t>COST &amp; VALUE</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1A33"/>
                </a:solidFill>
                <a:latin typeface="DM Sans" pitchFamily="34" charset="0"/>
                <a:ea typeface="DM Sans" pitchFamily="34" charset="-122"/>
                <a:cs typeface="DM Sans" pitchFamily="34" charset="-120"/>
              </a:rPr>
              <a:t>$2.31 a month to protect a $410k pipeline</a:t>
            </a:r>
            <a:endParaRPr lang="en-US" sz="3200" dirty="0"/>
          </a:p>
        </p:txBody>
      </p:sp>
      <p:sp>
        <p:nvSpPr>
          <p:cNvPr id="4" name="Shape 2"/>
          <p:cNvSpPr/>
          <p:nvPr/>
        </p:nvSpPr>
        <p:spPr>
          <a:xfrm>
            <a:off x="815975" y="1882775"/>
            <a:ext cx="6191250" cy="3956050"/>
          </a:xfrm>
          <a:prstGeom prst="roundRect">
            <a:avLst>
              <a:gd name="adj" fmla="val 3130"/>
            </a:avLst>
          </a:prstGeom>
          <a:solidFill>
            <a:srgbClr val="FFFFFF"/>
          </a:solidFill>
          <a:ln w="6350">
            <a:solidFill>
              <a:srgbClr val="E2E5F0"/>
            </a:solidFill>
            <a:prstDash val="solid"/>
          </a:ln>
        </p:spPr>
      </p:sp>
      <p:sp>
        <p:nvSpPr>
          <p:cNvPr id="5" name="Text 3"/>
          <p:cNvSpPr/>
          <p:nvPr/>
        </p:nvSpPr>
        <p:spPr>
          <a:xfrm>
            <a:off x="1071880" y="2138679"/>
            <a:ext cx="58498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A33"/>
                </a:solidFill>
                <a:latin typeface="DM Sans" pitchFamily="34" charset="0"/>
                <a:ea typeface="DM Sans" pitchFamily="34" charset="-122"/>
                <a:cs typeface="DM Sans" pitchFamily="34" charset="-120"/>
              </a:rPr>
              <a:t>Monthly AI running cost (Groq)</a:t>
            </a:r>
            <a:endParaRPr lang="en-US" sz="1600" dirty="0"/>
          </a:p>
        </p:txBody>
      </p:sp>
      <p:sp>
        <p:nvSpPr>
          <p:cNvPr id="6" name="Shape 4"/>
          <p:cNvSpPr/>
          <p:nvPr/>
        </p:nvSpPr>
        <p:spPr>
          <a:xfrm>
            <a:off x="1071880" y="2806066"/>
            <a:ext cx="5679440" cy="0"/>
          </a:xfrm>
          <a:prstGeom prst="line">
            <a:avLst/>
          </a:prstGeom>
          <a:noFill/>
          <a:ln w="6350">
            <a:solidFill>
              <a:srgbClr val="E2E5F0"/>
            </a:solidFill>
            <a:prstDash val="solid"/>
          </a:ln>
        </p:spPr>
      </p:sp>
      <p:sp>
        <p:nvSpPr>
          <p:cNvPr id="7" name="Text 5"/>
          <p:cNvSpPr/>
          <p:nvPr/>
        </p:nvSpPr>
        <p:spPr>
          <a:xfrm>
            <a:off x="1071880" y="2496821"/>
            <a:ext cx="391744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gpt-oss-20b · extraction, capture, minutes</a:t>
            </a:r>
            <a:endParaRPr lang="en-US" sz="1300" dirty="0"/>
          </a:p>
        </p:txBody>
      </p:sp>
      <p:sp>
        <p:nvSpPr>
          <p:cNvPr id="8" name="Text 6"/>
          <p:cNvSpPr/>
          <p:nvPr/>
        </p:nvSpPr>
        <p:spPr>
          <a:xfrm>
            <a:off x="6270022" y="2496821"/>
            <a:ext cx="481298"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3D4459"/>
                </a:solidFill>
                <a:latin typeface="DM Sans" pitchFamily="34" charset="0"/>
                <a:ea typeface="DM Sans" pitchFamily="34" charset="-122"/>
                <a:cs typeface="DM Sans" pitchFamily="34" charset="-120"/>
              </a:rPr>
              <a:t>$0.31</a:t>
            </a:r>
            <a:endParaRPr lang="en-US" sz="1300" dirty="0"/>
          </a:p>
        </p:txBody>
      </p:sp>
      <p:sp>
        <p:nvSpPr>
          <p:cNvPr id="9" name="Shape 7"/>
          <p:cNvSpPr/>
          <p:nvPr/>
        </p:nvSpPr>
        <p:spPr>
          <a:xfrm>
            <a:off x="1071880" y="3232787"/>
            <a:ext cx="5679440" cy="0"/>
          </a:xfrm>
          <a:prstGeom prst="line">
            <a:avLst/>
          </a:prstGeom>
          <a:noFill/>
          <a:ln w="6350">
            <a:solidFill>
              <a:srgbClr val="E2E5F0"/>
            </a:solidFill>
            <a:prstDash val="solid"/>
          </a:ln>
        </p:spPr>
      </p:sp>
      <p:sp>
        <p:nvSpPr>
          <p:cNvPr id="10" name="Text 8"/>
          <p:cNvSpPr/>
          <p:nvPr/>
        </p:nvSpPr>
        <p:spPr>
          <a:xfrm>
            <a:off x="1071880" y="2923542"/>
            <a:ext cx="358149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gpt-oss-120b · summaries, Q&amp;A, drafts</a:t>
            </a:r>
            <a:endParaRPr lang="en-US" sz="1300" dirty="0"/>
          </a:p>
        </p:txBody>
      </p:sp>
      <p:sp>
        <p:nvSpPr>
          <p:cNvPr id="11" name="Text 9"/>
          <p:cNvSpPr/>
          <p:nvPr/>
        </p:nvSpPr>
        <p:spPr>
          <a:xfrm>
            <a:off x="6268022" y="2923542"/>
            <a:ext cx="483298"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3D4459"/>
                </a:solidFill>
                <a:latin typeface="DM Sans" pitchFamily="34" charset="0"/>
                <a:ea typeface="DM Sans" pitchFamily="34" charset="-122"/>
                <a:cs typeface="DM Sans" pitchFamily="34" charset="-120"/>
              </a:rPr>
              <a:t>$1.03</a:t>
            </a:r>
            <a:endParaRPr lang="en-US" sz="1300" dirty="0"/>
          </a:p>
        </p:txBody>
      </p:sp>
      <p:sp>
        <p:nvSpPr>
          <p:cNvPr id="12" name="Shape 10"/>
          <p:cNvSpPr/>
          <p:nvPr/>
        </p:nvSpPr>
        <p:spPr>
          <a:xfrm>
            <a:off x="1071880" y="3659509"/>
            <a:ext cx="5679440" cy="0"/>
          </a:xfrm>
          <a:prstGeom prst="line">
            <a:avLst/>
          </a:prstGeom>
          <a:noFill/>
          <a:ln w="6350">
            <a:solidFill>
              <a:srgbClr val="E2E5F0"/>
            </a:solidFill>
            <a:prstDash val="solid"/>
          </a:ln>
        </p:spPr>
      </p:sp>
      <p:sp>
        <p:nvSpPr>
          <p:cNvPr id="13" name="Text 11"/>
          <p:cNvSpPr/>
          <p:nvPr/>
        </p:nvSpPr>
        <p:spPr>
          <a:xfrm>
            <a:off x="1071880" y="3350264"/>
            <a:ext cx="165973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New-lead capture</a:t>
            </a:r>
            <a:endParaRPr lang="en-US" sz="1300" dirty="0"/>
          </a:p>
        </p:txBody>
      </p:sp>
      <p:sp>
        <p:nvSpPr>
          <p:cNvPr id="14" name="Text 12"/>
          <p:cNvSpPr/>
          <p:nvPr/>
        </p:nvSpPr>
        <p:spPr>
          <a:xfrm>
            <a:off x="6286691" y="3350264"/>
            <a:ext cx="464630"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3D4459"/>
                </a:solidFill>
                <a:latin typeface="DM Sans" pitchFamily="34" charset="0"/>
                <a:ea typeface="DM Sans" pitchFamily="34" charset="-122"/>
                <a:cs typeface="DM Sans" pitchFamily="34" charset="-120"/>
              </a:rPr>
              <a:t>$0.17</a:t>
            </a:r>
            <a:endParaRPr lang="en-US" sz="1300" dirty="0"/>
          </a:p>
        </p:txBody>
      </p:sp>
      <p:sp>
        <p:nvSpPr>
          <p:cNvPr id="15" name="Shape 13"/>
          <p:cNvSpPr/>
          <p:nvPr/>
        </p:nvSpPr>
        <p:spPr>
          <a:xfrm>
            <a:off x="1071880" y="4086224"/>
            <a:ext cx="5679440" cy="0"/>
          </a:xfrm>
          <a:prstGeom prst="line">
            <a:avLst/>
          </a:prstGeom>
          <a:noFill/>
          <a:ln w="6350">
            <a:solidFill>
              <a:srgbClr val="E2E5F0"/>
            </a:solidFill>
            <a:prstDash val="solid"/>
          </a:ln>
        </p:spPr>
      </p:sp>
      <p:sp>
        <p:nvSpPr>
          <p:cNvPr id="16" name="Text 14"/>
          <p:cNvSpPr/>
          <p:nvPr/>
        </p:nvSpPr>
        <p:spPr>
          <a:xfrm>
            <a:off x="1071880" y="3776979"/>
            <a:ext cx="289026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Whisper · meeting transcription</a:t>
            </a:r>
            <a:endParaRPr lang="en-US" sz="1300" dirty="0"/>
          </a:p>
        </p:txBody>
      </p:sp>
      <p:sp>
        <p:nvSpPr>
          <p:cNvPr id="17" name="Text 15"/>
          <p:cNvSpPr/>
          <p:nvPr/>
        </p:nvSpPr>
        <p:spPr>
          <a:xfrm>
            <a:off x="6193727" y="3776979"/>
            <a:ext cx="557594"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3D4459"/>
                </a:solidFill>
                <a:latin typeface="DM Sans" pitchFamily="34" charset="0"/>
                <a:ea typeface="DM Sans" pitchFamily="34" charset="-122"/>
                <a:cs typeface="DM Sans" pitchFamily="34" charset="-120"/>
              </a:rPr>
              <a:t>$0.80</a:t>
            </a:r>
            <a:endParaRPr lang="en-US" sz="1300" dirty="0"/>
          </a:p>
        </p:txBody>
      </p:sp>
      <p:sp>
        <p:nvSpPr>
          <p:cNvPr id="18" name="Shape 16"/>
          <p:cNvSpPr/>
          <p:nvPr/>
        </p:nvSpPr>
        <p:spPr>
          <a:xfrm>
            <a:off x="1071880" y="4512945"/>
            <a:ext cx="5679440" cy="0"/>
          </a:xfrm>
          <a:prstGeom prst="line">
            <a:avLst/>
          </a:prstGeom>
          <a:noFill/>
          <a:ln w="6350">
            <a:solidFill>
              <a:srgbClr val="E2E5F0"/>
            </a:solidFill>
            <a:prstDash val="solid"/>
          </a:ln>
        </p:spPr>
      </p:sp>
      <p:sp>
        <p:nvSpPr>
          <p:cNvPr id="19" name="Text 17"/>
          <p:cNvSpPr/>
          <p:nvPr/>
        </p:nvSpPr>
        <p:spPr>
          <a:xfrm>
            <a:off x="1071880" y="4203700"/>
            <a:ext cx="24115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Hosting · Vercel hobby tier</a:t>
            </a:r>
            <a:endParaRPr lang="en-US" sz="1300" dirty="0"/>
          </a:p>
        </p:txBody>
      </p:sp>
      <p:sp>
        <p:nvSpPr>
          <p:cNvPr id="20" name="Text 18"/>
          <p:cNvSpPr/>
          <p:nvPr/>
        </p:nvSpPr>
        <p:spPr>
          <a:xfrm>
            <a:off x="6187249" y="4203700"/>
            <a:ext cx="564071" cy="256540"/>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3D4459"/>
                </a:solidFill>
                <a:latin typeface="DM Sans" pitchFamily="34" charset="0"/>
                <a:ea typeface="DM Sans" pitchFamily="34" charset="-122"/>
                <a:cs typeface="DM Sans" pitchFamily="34" charset="-120"/>
              </a:rPr>
              <a:t>$0.00</a:t>
            </a:r>
            <a:endParaRPr lang="en-US" sz="1300" dirty="0"/>
          </a:p>
        </p:txBody>
      </p:sp>
      <p:sp>
        <p:nvSpPr>
          <p:cNvPr id="21" name="Text 19"/>
          <p:cNvSpPr/>
          <p:nvPr/>
        </p:nvSpPr>
        <p:spPr>
          <a:xfrm>
            <a:off x="1071880" y="4630421"/>
            <a:ext cx="54483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1A33"/>
                </a:solidFill>
                <a:latin typeface="DM Sans" pitchFamily="34" charset="0"/>
                <a:ea typeface="DM Sans" pitchFamily="34" charset="-122"/>
                <a:cs typeface="DM Sans" pitchFamily="34" charset="-120"/>
              </a:rPr>
              <a:t>Total</a:t>
            </a:r>
            <a:endParaRPr lang="en-US" sz="1500" dirty="0"/>
          </a:p>
        </p:txBody>
      </p:sp>
      <p:sp>
        <p:nvSpPr>
          <p:cNvPr id="22" name="Text 20"/>
          <p:cNvSpPr/>
          <p:nvPr/>
        </p:nvSpPr>
        <p:spPr>
          <a:xfrm>
            <a:off x="6204204" y="4630421"/>
            <a:ext cx="547116"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4F46E5"/>
                </a:solidFill>
                <a:latin typeface="DM Sans" pitchFamily="34" charset="0"/>
                <a:ea typeface="DM Sans" pitchFamily="34" charset="-122"/>
                <a:cs typeface="DM Sans" pitchFamily="34" charset="-120"/>
              </a:rPr>
              <a:t>$2.31</a:t>
            </a:r>
            <a:endParaRPr lang="en-US" sz="1500" dirty="0"/>
          </a:p>
        </p:txBody>
      </p:sp>
      <p:sp>
        <p:nvSpPr>
          <p:cNvPr id="23" name="Shape 21"/>
          <p:cNvSpPr/>
          <p:nvPr/>
        </p:nvSpPr>
        <p:spPr>
          <a:xfrm>
            <a:off x="7315200" y="1879600"/>
            <a:ext cx="4064000" cy="1736090"/>
          </a:xfrm>
          <a:prstGeom prst="roundRect">
            <a:avLst>
              <a:gd name="adj" fmla="val 7315"/>
            </a:avLst>
          </a:prstGeom>
          <a:solidFill>
            <a:srgbClr val="141A33"/>
          </a:solidFill>
          <a:ln/>
        </p:spPr>
      </p:sp>
      <p:sp>
        <p:nvSpPr>
          <p:cNvPr id="24" name="Text 22"/>
          <p:cNvSpPr/>
          <p:nvPr/>
        </p:nvSpPr>
        <p:spPr>
          <a:xfrm>
            <a:off x="7543800" y="2108200"/>
            <a:ext cx="3715004"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BBF24"/>
                </a:solidFill>
                <a:latin typeface="DM Sans" pitchFamily="34" charset="0"/>
                <a:ea typeface="DM Sans" pitchFamily="34" charset="-122"/>
                <a:cs typeface="DM Sans" pitchFamily="34" charset="-120"/>
              </a:rPr>
              <a:t>~$391</a:t>
            </a:r>
            <a:endParaRPr lang="en-US" sz="4000" dirty="0"/>
          </a:p>
        </p:txBody>
      </p:sp>
      <p:sp>
        <p:nvSpPr>
          <p:cNvPr id="25" name="Text 23"/>
          <p:cNvSpPr/>
          <p:nvPr/>
        </p:nvSpPr>
        <p:spPr>
          <a:xfrm>
            <a:off x="7543800" y="2667000"/>
            <a:ext cx="3715004"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4E7F5"/>
                </a:solidFill>
                <a:latin typeface="DM Sans" pitchFamily="34" charset="0"/>
                <a:ea typeface="DM Sans" pitchFamily="34" charset="-122"/>
                <a:cs typeface="DM Sans" pitchFamily="34" charset="-120"/>
              </a:rPr>
              <a:t>saved per month vs $393.75 of founder time spent on manual follow-up tracking — </a:t>
            </a:r>
            <a:r>
              <a:rPr lang="en-US" sz="1400" b="1" dirty="0">
                <a:solidFill>
                  <a:srgbClr val="E4E7F5"/>
                </a:solidFill>
                <a:latin typeface="DM Sans" pitchFamily="34" charset="0"/>
                <a:ea typeface="DM Sans" pitchFamily="34" charset="-122"/>
                <a:cs typeface="DM Sans" pitchFamily="34" charset="-120"/>
              </a:rPr>
              <a:t>99% cheaper</a:t>
            </a:r>
            <a:endParaRPr lang="en-US" sz="1400" dirty="0"/>
          </a:p>
        </p:txBody>
      </p:sp>
      <p:sp>
        <p:nvSpPr>
          <p:cNvPr id="26" name="Text 24"/>
          <p:cNvSpPr/>
          <p:nvPr/>
        </p:nvSpPr>
        <p:spPr>
          <a:xfrm>
            <a:off x="7318375" y="3771267"/>
            <a:ext cx="4057650" cy="1103630"/>
          </a:xfrm>
          <a:prstGeom prst="roundRect">
            <a:avLst>
              <a:gd name="adj" fmla="val 11220"/>
            </a:avLst>
          </a:prstGeom>
          <a:solidFill>
            <a:srgbClr val="FFFFFF"/>
          </a:solidFill>
          <a:ln w="6350">
            <a:solidFill>
              <a:srgbClr val="E2E5F0"/>
            </a:solidFill>
            <a:prstDash val="solid"/>
          </a:ln>
        </p:spPr>
        <p:txBody>
          <a:bodyPr wrap="square" lIns="168838" tIns="168838" rIns="59414" bIns="143438" rtlCol="0" anchor="t">
            <a:normAutofit/>
          </a:bodyPr>
          <a:lstStyle/>
          <a:p>
            <a:pPr algn="l" indent="0" marL="0">
              <a:lnSpc>
                <a:spcPts val="1820"/>
              </a:lnSpc>
              <a:buNone/>
            </a:pPr>
            <a:r>
              <a:rPr lang="en-US" sz="1300" dirty="0">
                <a:solidFill>
                  <a:srgbClr val="3D4459"/>
                </a:solidFill>
                <a:latin typeface="DM Sans" pitchFamily="34" charset="0"/>
                <a:ea typeface="DM Sans" pitchFamily="34" charset="-122"/>
                <a:cs typeface="DM Sans" pitchFamily="34" charset="-120"/>
              </a:rPr>
              <a:t>Same workload on Claude would cost about </a:t>
            </a:r>
            <a:r>
              <a:rPr lang="en-US" sz="1300" b="1" dirty="0">
                <a:solidFill>
                  <a:srgbClr val="3D4459"/>
                </a:solidFill>
                <a:latin typeface="DM Sans" pitchFamily="34" charset="0"/>
                <a:ea typeface="DM Sans" pitchFamily="34" charset="-122"/>
                <a:cs typeface="DM Sans" pitchFamily="34" charset="-120"/>
              </a:rPr>
              <a:t>$27.76/month</a:t>
            </a:r>
            <a:r>
              <a:rPr lang="en-US" sz="1300" dirty="0">
                <a:solidFill>
                  <a:srgbClr val="3D4459"/>
                </a:solidFill>
                <a:latin typeface="DM Sans" pitchFamily="34" charset="0"/>
                <a:ea typeface="DM Sans" pitchFamily="34" charset="-122"/>
                <a:cs typeface="DM Sans" pitchFamily="34" charset="-120"/>
              </a:rPr>
              <a:t> — still cheap, kept as the quality fallback.</a:t>
            </a:r>
            <a:endParaRPr lang="en-US" sz="1300" dirty="0"/>
          </a:p>
        </p:txBody>
      </p:sp>
      <p:sp>
        <p:nvSpPr>
          <p:cNvPr id="27" name="Text 2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DM Sans" pitchFamily="34" charset="0"/>
                <a:ea typeface="DM Sans" pitchFamily="34" charset="-122"/>
                <a:cs typeface="DM Sans" pitchFamily="34" charset="-120"/>
              </a:rPr>
              <a:t>AtliQ Sales &amp; CRM Assistant · 15 · Step 4: cost estimation sheet · dataset-based volume, Groq list prices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A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5B4FC"/>
                </a:solidFill>
                <a:latin typeface="DM Sans" pitchFamily="34" charset="0"/>
                <a:ea typeface="DM Sans" pitchFamily="34" charset="-122"/>
                <a:cs typeface="DM Sans" pitchFamily="34" charset="-120"/>
              </a:rPr>
              <a:t>WHAT MAKES IT DIFFERENT</a:t>
            </a:r>
            <a:endParaRPr lang="en-US" sz="1200" dirty="0"/>
          </a:p>
        </p:txBody>
      </p:sp>
      <p:sp>
        <p:nvSpPr>
          <p:cNvPr id="3" name="Text 1"/>
          <p:cNvSpPr/>
          <p:nvPr>
            <p:ph type="title"/>
          </p:nvPr>
        </p:nvSpPr>
        <p:spPr>
          <a:xfrm>
            <a:off x="812800" y="1127764"/>
            <a:ext cx="10883392" cy="87884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6F7FB"/>
                </a:solidFill>
                <a:latin typeface="DM Sans" pitchFamily="34" charset="0"/>
                <a:ea typeface="DM Sans" pitchFamily="34" charset="-122"/>
                <a:cs typeface="DM Sans" pitchFamily="34" charset="-120"/>
              </a:rPr>
              <a:t>Not a chatbot on top of a CRM — a sales memory that closes the loop.</a:t>
            </a:r>
            <a:endParaRPr lang="en-US" sz="2800" dirty="0"/>
          </a:p>
        </p:txBody>
      </p:sp>
      <p:sp>
        <p:nvSpPr>
          <p:cNvPr id="4" name="Shape 2"/>
          <p:cNvSpPr/>
          <p:nvPr/>
        </p:nvSpPr>
        <p:spPr>
          <a:xfrm>
            <a:off x="812800" y="2286000"/>
            <a:ext cx="3289300" cy="958374"/>
          </a:xfrm>
          <a:prstGeom prst="roundRect">
            <a:avLst>
              <a:gd name="adj" fmla="val 11926"/>
            </a:avLst>
          </a:prstGeom>
          <a:solidFill>
            <a:srgbClr val="1F2747"/>
          </a:solidFill>
          <a:ln/>
        </p:spPr>
      </p:sp>
      <p:sp>
        <p:nvSpPr>
          <p:cNvPr id="5" name="Text 3"/>
          <p:cNvSpPr/>
          <p:nvPr/>
        </p:nvSpPr>
        <p:spPr>
          <a:xfrm>
            <a:off x="990600" y="2463800"/>
            <a:ext cx="30217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5B4FC"/>
                </a:solidFill>
                <a:latin typeface="DM Sans" pitchFamily="34" charset="0"/>
                <a:ea typeface="DM Sans" pitchFamily="34" charset="-122"/>
                <a:cs typeface="DM Sans" pitchFamily="34" charset="-120"/>
              </a:rPr>
              <a:t>Proof, not vibes</a:t>
            </a:r>
            <a:endParaRPr lang="en-US" sz="1400" dirty="0"/>
          </a:p>
        </p:txBody>
      </p:sp>
      <p:sp>
        <p:nvSpPr>
          <p:cNvPr id="6" name="Text 4"/>
          <p:cNvSpPr/>
          <p:nvPr/>
        </p:nvSpPr>
        <p:spPr>
          <a:xfrm>
            <a:off x="990600" y="2763527"/>
            <a:ext cx="30217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7F5"/>
                </a:solidFill>
                <a:latin typeface="DM Sans" pitchFamily="34" charset="0"/>
                <a:ea typeface="DM Sans" pitchFamily="34" charset="-122"/>
                <a:cs typeface="DM Sans" pitchFamily="34" charset="-120"/>
              </a:rPr>
              <a:t>Every item shows its source quote</a:t>
            </a:r>
            <a:endParaRPr lang="en-US" sz="1200" dirty="0"/>
          </a:p>
        </p:txBody>
      </p:sp>
      <p:sp>
        <p:nvSpPr>
          <p:cNvPr id="7" name="Shape 5"/>
          <p:cNvSpPr/>
          <p:nvPr/>
        </p:nvSpPr>
        <p:spPr>
          <a:xfrm>
            <a:off x="4229100" y="2286000"/>
            <a:ext cx="3289300" cy="958374"/>
          </a:xfrm>
          <a:prstGeom prst="roundRect">
            <a:avLst>
              <a:gd name="adj" fmla="val 11926"/>
            </a:avLst>
          </a:prstGeom>
          <a:solidFill>
            <a:srgbClr val="1F2747"/>
          </a:solidFill>
          <a:ln/>
        </p:spPr>
      </p:sp>
      <p:sp>
        <p:nvSpPr>
          <p:cNvPr id="8" name="Text 6"/>
          <p:cNvSpPr/>
          <p:nvPr/>
        </p:nvSpPr>
        <p:spPr>
          <a:xfrm>
            <a:off x="4406900" y="2463800"/>
            <a:ext cx="30217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5B4FC"/>
                </a:solidFill>
                <a:latin typeface="DM Sans" pitchFamily="34" charset="0"/>
                <a:ea typeface="DM Sans" pitchFamily="34" charset="-122"/>
                <a:cs typeface="DM Sans" pitchFamily="34" charset="-120"/>
              </a:rPr>
              <a:t>Closes the loop</a:t>
            </a:r>
            <a:endParaRPr lang="en-US" sz="1400" dirty="0"/>
          </a:p>
        </p:txBody>
      </p:sp>
      <p:sp>
        <p:nvSpPr>
          <p:cNvPr id="9" name="Text 7"/>
          <p:cNvSpPr/>
          <p:nvPr/>
        </p:nvSpPr>
        <p:spPr>
          <a:xfrm>
            <a:off x="4406900" y="2763527"/>
            <a:ext cx="3111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7F5"/>
                </a:solidFill>
                <a:latin typeface="DM Sans" pitchFamily="34" charset="0"/>
                <a:ea typeface="DM Sans" pitchFamily="34" charset="-122"/>
                <a:cs typeface="DM Sans" pitchFamily="34" charset="-120"/>
              </a:rPr>
              <a:t>Mark done → stage moves, CRM updates</a:t>
            </a:r>
            <a:endParaRPr lang="en-US" sz="1200" dirty="0"/>
          </a:p>
        </p:txBody>
      </p:sp>
      <p:sp>
        <p:nvSpPr>
          <p:cNvPr id="10" name="Shape 8"/>
          <p:cNvSpPr/>
          <p:nvPr/>
        </p:nvSpPr>
        <p:spPr>
          <a:xfrm>
            <a:off x="812800" y="3371379"/>
            <a:ext cx="3289300" cy="1171813"/>
          </a:xfrm>
          <a:prstGeom prst="roundRect">
            <a:avLst>
              <a:gd name="adj" fmla="val 9754"/>
            </a:avLst>
          </a:prstGeom>
          <a:solidFill>
            <a:srgbClr val="1F2747"/>
          </a:solidFill>
          <a:ln/>
        </p:spPr>
      </p:sp>
      <p:sp>
        <p:nvSpPr>
          <p:cNvPr id="11" name="Text 9"/>
          <p:cNvSpPr/>
          <p:nvPr/>
        </p:nvSpPr>
        <p:spPr>
          <a:xfrm>
            <a:off x="990600" y="3549179"/>
            <a:ext cx="30217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5B4FC"/>
                </a:solidFill>
                <a:latin typeface="DM Sans" pitchFamily="34" charset="0"/>
                <a:ea typeface="DM Sans" pitchFamily="34" charset="-122"/>
                <a:cs typeface="DM Sans" pitchFamily="34" charset="-120"/>
              </a:rPr>
              <a:t>Phone-first capture</a:t>
            </a:r>
            <a:endParaRPr lang="en-US" sz="1400" dirty="0"/>
          </a:p>
        </p:txBody>
      </p:sp>
      <p:sp>
        <p:nvSpPr>
          <p:cNvPr id="12" name="Text 10"/>
          <p:cNvSpPr/>
          <p:nvPr/>
        </p:nvSpPr>
        <p:spPr>
          <a:xfrm>
            <a:off x="990600" y="3848894"/>
            <a:ext cx="30217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7F5"/>
                </a:solidFill>
                <a:latin typeface="DM Sans" pitchFamily="34" charset="0"/>
                <a:ea typeface="DM Sans" pitchFamily="34" charset="-122"/>
                <a:cs typeface="DM Sans" pitchFamily="34" charset="-120"/>
              </a:rPr>
              <a:t>Record or dictate; minutes in seconds</a:t>
            </a:r>
            <a:endParaRPr lang="en-US" sz="1200" dirty="0"/>
          </a:p>
        </p:txBody>
      </p:sp>
      <p:sp>
        <p:nvSpPr>
          <p:cNvPr id="13" name="Shape 11"/>
          <p:cNvSpPr/>
          <p:nvPr/>
        </p:nvSpPr>
        <p:spPr>
          <a:xfrm>
            <a:off x="4229100" y="3371379"/>
            <a:ext cx="3289300" cy="1171813"/>
          </a:xfrm>
          <a:prstGeom prst="roundRect">
            <a:avLst>
              <a:gd name="adj" fmla="val 9754"/>
            </a:avLst>
          </a:prstGeom>
          <a:solidFill>
            <a:srgbClr val="1F2747"/>
          </a:solidFill>
          <a:ln/>
        </p:spPr>
      </p:sp>
      <p:sp>
        <p:nvSpPr>
          <p:cNvPr id="14" name="Text 12"/>
          <p:cNvSpPr/>
          <p:nvPr/>
        </p:nvSpPr>
        <p:spPr>
          <a:xfrm>
            <a:off x="4406900" y="3549179"/>
            <a:ext cx="30217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5B4FC"/>
                </a:solidFill>
                <a:latin typeface="DM Sans" pitchFamily="34" charset="0"/>
                <a:ea typeface="DM Sans" pitchFamily="34" charset="-122"/>
                <a:cs typeface="DM Sans" pitchFamily="34" charset="-120"/>
              </a:rPr>
              <a:t>Catches what CRMs miss</a:t>
            </a:r>
            <a:endParaRPr lang="en-US" sz="1400" dirty="0"/>
          </a:p>
        </p:txBody>
      </p:sp>
      <p:sp>
        <p:nvSpPr>
          <p:cNvPr id="15" name="Text 13"/>
          <p:cNvSpPr/>
          <p:nvPr/>
        </p:nvSpPr>
        <p:spPr>
          <a:xfrm>
            <a:off x="4406900" y="3848894"/>
            <a:ext cx="302171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7F5"/>
                </a:solidFill>
                <a:latin typeface="DM Sans" pitchFamily="34" charset="0"/>
                <a:ea typeface="DM Sans" pitchFamily="34" charset="-122"/>
                <a:cs typeface="DM Sans" pitchFamily="34" charset="-120"/>
              </a:rPr>
              <a:t>Lost-deal revisits, silent threads, missing leads</a:t>
            </a:r>
            <a:endParaRPr lang="en-US" sz="1200" dirty="0"/>
          </a:p>
        </p:txBody>
      </p:sp>
      <p:sp>
        <p:nvSpPr>
          <p:cNvPr id="16" name="Shape 14"/>
          <p:cNvSpPr/>
          <p:nvPr/>
        </p:nvSpPr>
        <p:spPr>
          <a:xfrm>
            <a:off x="812800" y="4670189"/>
            <a:ext cx="3289300" cy="1171813"/>
          </a:xfrm>
          <a:prstGeom prst="roundRect">
            <a:avLst>
              <a:gd name="adj" fmla="val 9754"/>
            </a:avLst>
          </a:prstGeom>
          <a:solidFill>
            <a:srgbClr val="1F2747"/>
          </a:solidFill>
          <a:ln/>
        </p:spPr>
      </p:sp>
      <p:sp>
        <p:nvSpPr>
          <p:cNvPr id="17" name="Text 15"/>
          <p:cNvSpPr/>
          <p:nvPr/>
        </p:nvSpPr>
        <p:spPr>
          <a:xfrm>
            <a:off x="990600" y="4847989"/>
            <a:ext cx="30217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5B4FC"/>
                </a:solidFill>
                <a:latin typeface="DM Sans" pitchFamily="34" charset="0"/>
                <a:ea typeface="DM Sans" pitchFamily="34" charset="-122"/>
                <a:cs typeface="DM Sans" pitchFamily="34" charset="-120"/>
              </a:rPr>
              <a:t>Evaluated</a:t>
            </a:r>
            <a:endParaRPr lang="en-US" sz="1400" dirty="0"/>
          </a:p>
        </p:txBody>
      </p:sp>
      <p:sp>
        <p:nvSpPr>
          <p:cNvPr id="18" name="Text 16"/>
          <p:cNvSpPr/>
          <p:nvPr/>
        </p:nvSpPr>
        <p:spPr>
          <a:xfrm>
            <a:off x="990600" y="5147704"/>
            <a:ext cx="30217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7F5"/>
                </a:solidFill>
                <a:latin typeface="DM Sans" pitchFamily="34" charset="0"/>
                <a:ea typeface="DM Sans" pitchFamily="34" charset="-122"/>
                <a:cs typeface="DM Sans" pitchFamily="34" charset="-120"/>
              </a:rPr>
              <a:t>12/12 against the real answer key</a:t>
            </a:r>
            <a:endParaRPr lang="en-US" sz="1200" dirty="0"/>
          </a:p>
        </p:txBody>
      </p:sp>
      <p:sp>
        <p:nvSpPr>
          <p:cNvPr id="19" name="Shape 17"/>
          <p:cNvSpPr/>
          <p:nvPr/>
        </p:nvSpPr>
        <p:spPr>
          <a:xfrm>
            <a:off x="4229100" y="4670189"/>
            <a:ext cx="3289300" cy="1171813"/>
          </a:xfrm>
          <a:prstGeom prst="roundRect">
            <a:avLst>
              <a:gd name="adj" fmla="val 9754"/>
            </a:avLst>
          </a:prstGeom>
          <a:solidFill>
            <a:srgbClr val="1F2747"/>
          </a:solidFill>
          <a:ln/>
        </p:spPr>
      </p:sp>
      <p:sp>
        <p:nvSpPr>
          <p:cNvPr id="20" name="Text 18"/>
          <p:cNvSpPr/>
          <p:nvPr/>
        </p:nvSpPr>
        <p:spPr>
          <a:xfrm>
            <a:off x="4406900" y="4847989"/>
            <a:ext cx="302171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5B4FC"/>
                </a:solidFill>
                <a:latin typeface="DM Sans" pitchFamily="34" charset="0"/>
                <a:ea typeface="DM Sans" pitchFamily="34" charset="-122"/>
                <a:cs typeface="DM Sans" pitchFamily="34" charset="-120"/>
              </a:rPr>
              <a:t>Human in control</a:t>
            </a:r>
            <a:endParaRPr lang="en-US" sz="1400" dirty="0"/>
          </a:p>
        </p:txBody>
      </p:sp>
      <p:sp>
        <p:nvSpPr>
          <p:cNvPr id="21" name="Text 19"/>
          <p:cNvSpPr/>
          <p:nvPr/>
        </p:nvSpPr>
        <p:spPr>
          <a:xfrm>
            <a:off x="4406900" y="5147704"/>
            <a:ext cx="302171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7F5"/>
                </a:solidFill>
                <a:latin typeface="DM Sans" pitchFamily="34" charset="0"/>
                <a:ea typeface="DM Sans" pitchFamily="34" charset="-122"/>
                <a:cs typeface="DM Sans" pitchFamily="34" charset="-120"/>
              </a:rPr>
              <a:t>HAX-designed; AI suggests, people decide</a:t>
            </a:r>
            <a:endParaRPr lang="en-US" sz="1200" dirty="0"/>
          </a:p>
        </p:txBody>
      </p:sp>
      <p:sp>
        <p:nvSpPr>
          <p:cNvPr id="22" name="Text 20"/>
          <p:cNvSpPr/>
          <p:nvPr/>
        </p:nvSpPr>
        <p:spPr>
          <a:xfrm>
            <a:off x="7823200" y="2286000"/>
            <a:ext cx="36626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BBF24"/>
                </a:solidFill>
                <a:latin typeface="DM Sans" pitchFamily="34" charset="0"/>
                <a:ea typeface="DM Sans" pitchFamily="34" charset="-122"/>
                <a:cs typeface="DM Sans" pitchFamily="34" charset="-120"/>
              </a:rPr>
              <a:t>Next on the roadmap</a:t>
            </a:r>
            <a:endParaRPr lang="en-US" sz="1600" dirty="0"/>
          </a:p>
        </p:txBody>
      </p:sp>
      <p:sp>
        <p:nvSpPr>
          <p:cNvPr id="23" name="Text 21"/>
          <p:cNvSpPr/>
          <p:nvPr/>
        </p:nvSpPr>
        <p:spPr>
          <a:xfrm>
            <a:off x="7823200" y="2656842"/>
            <a:ext cx="36626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Shared database &amp; CRM write-back</a:t>
            </a:r>
            <a:endParaRPr lang="en-US" sz="1300" dirty="0"/>
          </a:p>
        </p:txBody>
      </p:sp>
      <p:sp>
        <p:nvSpPr>
          <p:cNvPr id="24" name="Text 22"/>
          <p:cNvSpPr/>
          <p:nvPr/>
        </p:nvSpPr>
        <p:spPr>
          <a:xfrm>
            <a:off x="7823200" y="3014985"/>
            <a:ext cx="36626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Live Gmail / Outlook connection</a:t>
            </a:r>
            <a:endParaRPr lang="en-US" sz="1300" dirty="0"/>
          </a:p>
        </p:txBody>
      </p:sp>
      <p:sp>
        <p:nvSpPr>
          <p:cNvPr id="25" name="Text 23"/>
          <p:cNvSpPr/>
          <p:nvPr/>
        </p:nvSpPr>
        <p:spPr>
          <a:xfrm>
            <a:off x="7823200" y="3373127"/>
            <a:ext cx="36626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Call-in note-taker &amp; meeting bot</a:t>
            </a:r>
            <a:endParaRPr lang="en-US" sz="1300" dirty="0"/>
          </a:p>
        </p:txBody>
      </p:sp>
      <p:sp>
        <p:nvSpPr>
          <p:cNvPr id="26" name="Text 24"/>
          <p:cNvSpPr/>
          <p:nvPr/>
        </p:nvSpPr>
        <p:spPr>
          <a:xfrm>
            <a:off x="7823200" y="3731258"/>
            <a:ext cx="36626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7F5"/>
                </a:solidFill>
                <a:latin typeface="DM Sans" pitchFamily="34" charset="0"/>
                <a:ea typeface="DM Sans" pitchFamily="34" charset="-122"/>
                <a:cs typeface="DM Sans" pitchFamily="34" charset="-120"/>
              </a:rPr>
              <a:t>→ WhatsApp &amp; push reminders</a:t>
            </a:r>
            <a:endParaRPr lang="en-US" sz="1300" dirty="0"/>
          </a:p>
        </p:txBody>
      </p:sp>
      <p:sp>
        <p:nvSpPr>
          <p:cNvPr id="27" name="Text 25"/>
          <p:cNvSpPr/>
          <p:nvPr/>
        </p:nvSpPr>
        <p:spPr>
          <a:xfrm>
            <a:off x="7823200" y="4089400"/>
            <a:ext cx="3662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5B4FC"/>
                </a:solidFill>
                <a:latin typeface="DM Sans" pitchFamily="34" charset="0"/>
                <a:ea typeface="DM Sans" pitchFamily="34" charset="-122"/>
                <a:cs typeface="DM Sans" pitchFamily="34" charset="-120"/>
              </a:rPr>
              <a:t>Try it live</a:t>
            </a:r>
            <a:endParaRPr lang="en-US" sz="1200" dirty="0"/>
          </a:p>
        </p:txBody>
      </p:sp>
      <p:sp>
        <p:nvSpPr>
          <p:cNvPr id="28" name="Text 26"/>
          <p:cNvSpPr/>
          <p:nvPr/>
        </p:nvSpPr>
        <p:spPr>
          <a:xfrm>
            <a:off x="7823200" y="4340858"/>
            <a:ext cx="366268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6F7FB"/>
                </a:solidFill>
                <a:latin typeface="DM Sans" pitchFamily="34" charset="0"/>
                <a:ea typeface="DM Sans" pitchFamily="34" charset="-122"/>
                <a:cs typeface="DM Sans" pitchFamily="34" charset="-120"/>
              </a:rPr>
              <a:t>atliq-sales-crm-assistant-eshita-rastogi.vercel.app</a:t>
            </a:r>
            <a:endParaRPr lang="en-US" sz="1300" dirty="0"/>
          </a:p>
        </p:txBody>
      </p:sp>
      <p:sp>
        <p:nvSpPr>
          <p:cNvPr id="29" name="Text 27"/>
          <p:cNvSpPr/>
          <p:nvPr/>
        </p:nvSpPr>
        <p:spPr>
          <a:xfrm>
            <a:off x="7823200" y="4841242"/>
            <a:ext cx="36626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6B8"/>
                </a:solidFill>
                <a:latin typeface="DM Sans" pitchFamily="34" charset="0"/>
                <a:ea typeface="DM Sans" pitchFamily="34" charset="-122"/>
                <a:cs typeface="DM Sans" pitchFamily="34" charset="-120"/>
              </a:rPr>
              <a:t>github.com/Eshita-Rastogi/atliq-sales-crm-assistant</a:t>
            </a:r>
            <a:endParaRPr lang="en-US" sz="1200" dirty="0"/>
          </a:p>
        </p:txBody>
      </p:sp>
      <p:sp>
        <p:nvSpPr>
          <p:cNvPr id="30" name="Text 2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96B8"/>
                </a:solidFill>
                <a:latin typeface="DM Sans" pitchFamily="34" charset="0"/>
                <a:ea typeface="DM Sans" pitchFamily="34" charset="-122"/>
                <a:cs typeface="DM Sans" pitchFamily="34" charset="-120"/>
              </a:rPr>
              <a:t>AtliQ Sales &amp; CRM Assistant · 16 · Thank you — Eshita Rastogi</a:t>
            </a:r>
            <a:endParaRPr lang="en-US" sz="1200" dirty="0"/>
          </a:p>
        </p:txBody>
      </p:sp>
    </p:spTree>
  </p:cSld>
  <p:clrMapOvr>
    <a:masterClrMapping/>
  </p:clrMapOvr>
</p:sld>
</file>

<file path=ppt/theme/theme1.xml><?xml version="1.0" encoding="utf-8"?>
<a:theme xmlns:a="http://schemas.openxmlformats.org/drawingml/2006/main" name="AtliQ Sales &amp; CRM Assistant — Capstone Deck">
  <a:themeElements>
    <a:clrScheme name="AtliQ Sales &amp; CRM Assistant — Capstone Deck">
      <a:dk1>
        <a:srgbClr val="141A33"/>
      </a:dk1>
      <a:lt1>
        <a:srgbClr val="F6F7FB"/>
      </a:lt1>
      <a:dk2>
        <a:srgbClr val="4D5165"/>
      </a:dk2>
      <a:lt2>
        <a:srgbClr val="DFE1E7"/>
      </a:lt2>
      <a:accent1>
        <a:srgbClr val="4F46E5"/>
      </a:accent1>
      <a:accent2>
        <a:srgbClr val="A5B4FC"/>
      </a:accent2>
      <a:accent3>
        <a:srgbClr val="B45309"/>
      </a:accent3>
      <a:accent4>
        <a:srgbClr val="FBBF24"/>
      </a:accent4>
      <a:accent5>
        <a:srgbClr val="8F96B8"/>
      </a:accent5>
      <a:accent6>
        <a:srgbClr val="86EFAC"/>
      </a:accent6>
      <a:hlink>
        <a:srgbClr val="0563C1"/>
      </a:hlink>
      <a:folHlink>
        <a:srgbClr val="954F72"/>
      </a:folHlink>
    </a:clrScheme>
    <a:fontScheme name="AtliQ Sales &amp; CRM Assistant — Capstone Deck">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Sales &amp; CRM Assistant — Capstone Deck</dc:title>
  <dc:subject/>
  <dc:creator/>
  <cp:lastModifiedBy/>
  <cp:revision>1</cp:revision>
  <dcterms:created xsi:type="dcterms:W3CDTF">2026-10-14T07:13:40Z</dcterms:created>
  <dcterms:modified xsi:type="dcterms:W3CDTF">2026-10-14T07:13:40Z</dcterms:modified>
</cp:coreProperties>
</file>